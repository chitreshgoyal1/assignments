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62" r:id="rId5"/>
    <p:sldId id="261" r:id="rId6"/>
    <p:sldId id="259" r:id="rId7"/>
    <p:sldId id="260" r:id="rId8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71"/>
    <p:restoredTop sz="94638"/>
  </p:normalViewPr>
  <p:slideViewPr>
    <p:cSldViewPr snapToGrid="0" snapToObjects="1">
      <p:cViewPr varScale="1">
        <p:scale>
          <a:sx n="113" d="100"/>
          <a:sy n="113" d="100"/>
        </p:scale>
        <p:origin x="90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47AD34-909E-DD4B-8CF8-4C7A734A1428}" type="datetimeFigureOut">
              <a:rPr lang="en-US" smtClean="0"/>
              <a:t>5/29/26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9D2A4B-B43A-334C-9EF6-0085729E55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1819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D2A4B-B43A-334C-9EF6-0085729E552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61952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D2A4B-B43A-334C-9EF6-0085729E552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1562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D2A4B-B43A-334C-9EF6-0085729E552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3520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aexchange.accenture.com/media/t/1_o3agb3w5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A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663440" cy="6858000"/>
          </a:xfrm>
          <a:prstGeom prst="rect">
            <a:avLst/>
          </a:prstGeom>
          <a:solidFill>
            <a:srgbClr val="28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457200"/>
            <a:ext cx="1828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0" b="1" i="0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2788920"/>
            <a:ext cx="4160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D099FF"/>
                </a:solidFill>
                <a:latin typeface="Calibri"/>
              </a:rPr>
              <a:t>Let There Be Change.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3401568"/>
            <a:ext cx="2743200" cy="420624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3401568"/>
            <a:ext cx="2743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Hackathon 2026  ·  Agentic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3950208"/>
            <a:ext cx="4160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</a:pPr>
            <a:r>
              <a:rPr sz="1100" b="0">
                <a:solidFill>
                  <a:srgbClr val="D099FF"/>
                </a:solidFill>
                <a:latin typeface="Calibri"/>
              </a:rPr>
              <a:t>DevSecOps  ·  Cybersecurity  ·  Software / Tech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4389120"/>
            <a:ext cx="3200400" cy="36576"/>
          </a:xfrm>
          <a:prstGeom prst="rect">
            <a:avLst/>
          </a:prstGeom>
          <a:solidFill>
            <a:srgbClr val="560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11480" y="4553712"/>
            <a:ext cx="4160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›  Chitresh Goyal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4901184"/>
            <a:ext cx="416052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FFFFFF"/>
                </a:solidFill>
                <a:latin typeface="Calibri"/>
              </a:rPr>
              <a:t>›  Shruti</a:t>
            </a:r>
            <a:r>
              <a:rPr lang="en-US" sz="1300" b="0" i="0" dirty="0">
                <a:solidFill>
                  <a:srgbClr val="FFFFFF"/>
                </a:solidFill>
                <a:latin typeface="Calibri"/>
              </a:rPr>
              <a:t> Hemant Patrikar</a:t>
            </a:r>
            <a:endParaRPr sz="1300" b="0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11480" y="5248656"/>
            <a:ext cx="4160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›  Yogesh Dutt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1005840"/>
            <a:ext cx="6949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0" b="1" i="0">
                <a:solidFill>
                  <a:srgbClr val="FFFFFF"/>
                </a:solidFill>
                <a:latin typeface="Calibri"/>
              </a:rPr>
              <a:t>ZeroBug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2331720"/>
            <a:ext cx="68580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D099FF"/>
                </a:solidFill>
                <a:latin typeface="Calibri"/>
              </a:rPr>
              <a:t>AI Agent That Reads Bug Reports,
Writes the Fix, and Ships It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0" y="3566160"/>
            <a:ext cx="4114800" cy="36576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0" y="3712463"/>
            <a:ext cx="68580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</a:pPr>
            <a:r>
              <a:rPr sz="1400" b="0">
                <a:solidFill>
                  <a:srgbClr val="EEDDFF"/>
                </a:solidFill>
                <a:latin typeface="Calibri"/>
              </a:rPr>
              <a:t>Ingests Jira, GitHub, SAST, DAST, OSS &amp; Rails Guard</a:t>
            </a:r>
          </a:p>
          <a:p>
            <a:pPr algn="l">
              <a:lnSpc>
                <a:spcPts val="2200"/>
              </a:lnSpc>
            </a:pPr>
            <a:r>
              <a:rPr sz="1400" b="0">
                <a:solidFill>
                  <a:srgbClr val="EEDDFF"/>
                </a:solidFill>
                <a:latin typeface="Calibri"/>
              </a:rPr>
              <a:t>Writes agents on-the-fly  —  no hardcoded connectors</a:t>
            </a:r>
          </a:p>
          <a:p>
            <a:pPr algn="l">
              <a:lnSpc>
                <a:spcPts val="2200"/>
              </a:lnSpc>
            </a:pPr>
            <a:r>
              <a:rPr sz="1400" b="0">
                <a:solidFill>
                  <a:srgbClr val="EEDDFF"/>
                </a:solidFill>
                <a:latin typeface="Calibri"/>
              </a:rPr>
              <a:t>Human approval before any merge or deploy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28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28600" y="6601968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55BB"/>
                </a:solidFill>
                <a:latin typeface="Calibri"/>
              </a:rPr>
              <a:t>Agentic Workflows with Guardrails  |  DevSecOps  |  Cybersecurity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81360" y="6601968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55BB"/>
                </a:solidFill>
                <a:latin typeface="Calibri"/>
              </a:rPr>
              <a:t>Slide 1 /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A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8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56032" y="54864"/>
            <a:ext cx="25603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A100FF"/>
                </a:solidFill>
                <a:latin typeface="Calibri"/>
              </a:rPr>
              <a:t>ZeroBug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93392" y="0"/>
            <a:ext cx="365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070FF"/>
                </a:solidFill>
                <a:latin typeface="Calibri"/>
              </a:rPr>
              <a:t>&gt;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31720" y="18288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99FF"/>
                </a:solidFill>
                <a:latin typeface="Calibri"/>
              </a:rPr>
              <a:t>Problem Statement  ·  Our 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960120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100FF"/>
                </a:solidFill>
                <a:latin typeface="Calibri"/>
              </a:rPr>
              <a:t>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261872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Bug remediation is manual, slow, and never-ending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874519"/>
            <a:ext cx="5120640" cy="767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dirty="0">
                <a:solidFill>
                  <a:srgbClr val="D099FF"/>
                </a:solidFill>
                <a:latin typeface="Calibri"/>
              </a:rPr>
              <a:t>Reports flood in from Jira, GitHub, SAST, DAST, OSS audits &amp; </a:t>
            </a:r>
            <a:r>
              <a:rPr lang="en-US" sz="1200" b="0" dirty="0">
                <a:solidFill>
                  <a:srgbClr val="D099FF"/>
                </a:solidFill>
                <a:latin typeface="Calibri"/>
              </a:rPr>
              <a:t>RIAI, PDF, Image</a:t>
            </a:r>
            <a:r>
              <a:rPr sz="1200" b="0" dirty="0">
                <a:solidFill>
                  <a:srgbClr val="D099FF"/>
                </a:solidFill>
                <a:latin typeface="Calibri"/>
              </a:rPr>
              <a:t>.</a:t>
            </a:r>
          </a:p>
          <a:p>
            <a:pPr algn="l">
              <a:lnSpc>
                <a:spcPts val="1800"/>
              </a:lnSpc>
            </a:pPr>
            <a:r>
              <a:rPr sz="1200" b="0" dirty="0">
                <a:solidFill>
                  <a:srgbClr val="D099FF"/>
                </a:solidFill>
                <a:latin typeface="Calibri"/>
              </a:rPr>
              <a:t>Every step after detection is manual — read, navigate, reason, write, PR, review.</a:t>
            </a:r>
          </a:p>
          <a:p>
            <a:pPr algn="l">
              <a:lnSpc>
                <a:spcPts val="1800"/>
              </a:lnSpc>
            </a:pPr>
            <a:r>
              <a:rPr sz="1200" b="0" dirty="0">
                <a:solidFill>
                  <a:srgbClr val="D099FF"/>
                </a:solidFill>
                <a:latin typeface="Calibri"/>
              </a:rPr>
              <a:t>Backlogs grow faster than any team can drain; findings sit for weeks.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3291840"/>
            <a:ext cx="1536192" cy="1325880"/>
          </a:xfrm>
          <a:prstGeom prst="rect">
            <a:avLst/>
          </a:prstGeom>
          <a:solidFill>
            <a:srgbClr val="280050"/>
          </a:solidFill>
          <a:ln w="1905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74320" y="3346704"/>
            <a:ext cx="153619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C01E"/>
                </a:solidFill>
                <a:latin typeface="Calibri"/>
              </a:rPr>
              <a:t>33%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3950208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099FF"/>
                </a:solidFill>
                <a:latin typeface="Calibri"/>
              </a:rPr>
              <a:t>Developer time
spent on bug fixing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56816" y="3291840"/>
            <a:ext cx="1536192" cy="1325880"/>
          </a:xfrm>
          <a:prstGeom prst="rect">
            <a:avLst/>
          </a:prstGeom>
          <a:solidFill>
            <a:srgbClr val="280050"/>
          </a:solidFill>
          <a:ln w="1905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956816" y="3346704"/>
            <a:ext cx="153619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C01E"/>
                </a:solidFill>
                <a:latin typeface="Calibri"/>
              </a:rPr>
              <a:t>Weeks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56816" y="3950208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099FF"/>
                </a:solidFill>
                <a:latin typeface="Calibri"/>
              </a:rPr>
              <a:t>Mean time to
remediate low-sev issues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39312" y="3291840"/>
            <a:ext cx="1536192" cy="1325880"/>
          </a:xfrm>
          <a:prstGeom prst="rect">
            <a:avLst/>
          </a:prstGeom>
          <a:solidFill>
            <a:srgbClr val="280050"/>
          </a:solidFill>
          <a:ln w="1905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39312" y="3346704"/>
            <a:ext cx="153619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C01E"/>
                </a:solidFill>
                <a:latin typeface="Calibri"/>
              </a:rPr>
              <a:t>60%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39312" y="3950208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099FF"/>
                </a:solidFill>
                <a:latin typeface="Calibri"/>
              </a:rPr>
              <a:t>Breaches from known
unpatched vulns¹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4736592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774499"/>
                </a:solidFill>
                <a:latin typeface="Calibri"/>
              </a:rPr>
              <a:t>¹ Verizon DBIR 2023 — not negligence, just a queue that was too long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23560" y="896112"/>
            <a:ext cx="45720" cy="5559552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806440" y="960120"/>
            <a:ext cx="6217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100FF"/>
                </a:solidFill>
                <a:latin typeface="Calibri"/>
              </a:rPr>
              <a:t>OUR SOLUTION  —  THE USP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06440" y="1346932"/>
            <a:ext cx="62179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 err="1">
                <a:solidFill>
                  <a:srgbClr val="FFFFFF"/>
                </a:solidFill>
                <a:latin typeface="Calibri"/>
              </a:rPr>
              <a:t>ZeroBug</a:t>
            </a:r>
            <a:r>
              <a:rPr sz="1600" b="1" i="0" dirty="0">
                <a:solidFill>
                  <a:srgbClr val="FFFFFF"/>
                </a:solidFill>
                <a:latin typeface="Calibri"/>
              </a:rPr>
              <a:t> writes the agent it needs, </a:t>
            </a:r>
            <a:r>
              <a:rPr lang="en-US" sz="1600" b="1" i="0" dirty="0">
                <a:solidFill>
                  <a:srgbClr val="FFFFFF"/>
                </a:solidFill>
                <a:latin typeface="Calibri"/>
              </a:rPr>
              <a:t>A</a:t>
            </a:r>
            <a:r>
              <a:rPr sz="1600" b="1" i="0" dirty="0">
                <a:solidFill>
                  <a:srgbClr val="FFFFFF"/>
                </a:solidFill>
                <a:latin typeface="Calibri"/>
              </a:rPr>
              <a:t>t the moment it needs it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806440" y="1938528"/>
            <a:ext cx="6080760" cy="475488"/>
          </a:xfrm>
          <a:prstGeom prst="rect">
            <a:avLst/>
          </a:prstGeom>
          <a:solidFill>
            <a:srgbClr val="280050"/>
          </a:solidFill>
          <a:ln w="1905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843016" y="2029549"/>
            <a:ext cx="596188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 dirty="0">
                <a:solidFill>
                  <a:srgbClr val="EEDDFF"/>
                </a:solidFill>
                <a:latin typeface="Calibri"/>
              </a:rPr>
              <a:t>No hardcoded connectors  ·  Works with any tool, any version, any stack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06440" y="2609143"/>
            <a:ext cx="1417320" cy="1576291"/>
          </a:xfrm>
          <a:prstGeom prst="rect">
            <a:avLst/>
          </a:prstGeom>
          <a:solidFill>
            <a:srgbClr val="280050"/>
          </a:solidFill>
          <a:ln w="19050">
            <a:solidFill>
              <a:srgbClr val="560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879592" y="2682296"/>
            <a:ext cx="292608" cy="256032"/>
          </a:xfrm>
          <a:prstGeom prst="rect">
            <a:avLst/>
          </a:prstGeom>
          <a:solidFill>
            <a:srgbClr val="560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879592" y="2654864"/>
            <a:ext cx="292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97880" y="2974904"/>
            <a:ext cx="1234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Understand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97880" y="3267512"/>
            <a:ext cx="12344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950" b="0">
                <a:solidFill>
                  <a:srgbClr val="D099FF"/>
                </a:solidFill>
                <a:latin typeface="Calibri"/>
              </a:rPr>
              <a:t>User describes problem</a:t>
            </a:r>
          </a:p>
          <a:p>
            <a:pPr algn="l">
              <a:lnSpc>
                <a:spcPts val="1500"/>
              </a:lnSpc>
            </a:pPr>
            <a:r>
              <a:rPr sz="950" b="0">
                <a:solidFill>
                  <a:srgbClr val="D099FF"/>
                </a:solidFill>
                <a:latin typeface="Calibri"/>
              </a:rPr>
              <a:t>ZeroBug asks for creds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32904" y="3112064"/>
            <a:ext cx="16459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A100FF"/>
                </a:solidFill>
                <a:latin typeface="Calibri"/>
              </a:rPr>
              <a:t>›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60920" y="2609144"/>
            <a:ext cx="1417320" cy="1576290"/>
          </a:xfrm>
          <a:prstGeom prst="rect">
            <a:avLst/>
          </a:prstGeom>
          <a:solidFill>
            <a:srgbClr val="280050"/>
          </a:solidFill>
          <a:ln w="1905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7434072" y="2682296"/>
            <a:ext cx="292608" cy="256032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434072" y="2654864"/>
            <a:ext cx="292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52360" y="2974904"/>
            <a:ext cx="12801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FFC01E"/>
                </a:solidFill>
                <a:latin typeface="Calibri"/>
              </a:rPr>
              <a:t>Connect + Analyze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52360" y="3267512"/>
            <a:ext cx="12344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950" b="0">
                <a:solidFill>
                  <a:srgbClr val="D099FF"/>
                </a:solidFill>
                <a:latin typeface="Calibri"/>
              </a:rPr>
              <a:t>Connector Agent ⚡</a:t>
            </a:r>
          </a:p>
          <a:p>
            <a:pPr algn="l">
              <a:lnSpc>
                <a:spcPts val="1500"/>
              </a:lnSpc>
            </a:pPr>
            <a:r>
              <a:rPr sz="950" b="0">
                <a:solidFill>
                  <a:srgbClr val="D099FF"/>
                </a:solidFill>
                <a:latin typeface="Calibri"/>
              </a:rPr>
              <a:t>Analysis Agent ⚡</a:t>
            </a:r>
          </a:p>
          <a:p>
            <a:pPr algn="l">
              <a:lnSpc>
                <a:spcPts val="1500"/>
              </a:lnSpc>
            </a:pPr>
            <a:r>
              <a:rPr sz="950" b="0">
                <a:solidFill>
                  <a:srgbClr val="D099FF"/>
                </a:solidFill>
                <a:latin typeface="Calibri"/>
              </a:rPr>
              <a:t>GENERATED NOW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87384" y="3112064"/>
            <a:ext cx="16459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A100FF"/>
                </a:solidFill>
                <a:latin typeface="Calibri"/>
              </a:rPr>
              <a:t>›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915400" y="2609144"/>
            <a:ext cx="1417320" cy="1585434"/>
          </a:xfrm>
          <a:prstGeom prst="rect">
            <a:avLst/>
          </a:prstGeom>
          <a:solidFill>
            <a:srgbClr val="280050"/>
          </a:solidFill>
          <a:ln w="1905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8988552" y="2682296"/>
            <a:ext cx="292608" cy="256032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988552" y="2654864"/>
            <a:ext cx="292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06840" y="2974904"/>
            <a:ext cx="1234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C01E"/>
                </a:solidFill>
                <a:latin typeface="Calibri"/>
              </a:rPr>
              <a:t>Fix + Review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06840" y="3267512"/>
            <a:ext cx="12344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950" b="0">
                <a:solidFill>
                  <a:srgbClr val="D099FF"/>
                </a:solidFill>
                <a:latin typeface="Calibri"/>
              </a:rPr>
              <a:t>Fix Agent ⚡</a:t>
            </a:r>
          </a:p>
          <a:p>
            <a:pPr algn="l">
              <a:lnSpc>
                <a:spcPts val="1500"/>
              </a:lnSpc>
            </a:pPr>
            <a:r>
              <a:rPr sz="950" b="0">
                <a:solidFill>
                  <a:srgbClr val="D099FF"/>
                </a:solidFill>
                <a:latin typeface="Calibri"/>
              </a:rPr>
              <a:t>Human reviews diff</a:t>
            </a:r>
          </a:p>
          <a:p>
            <a:pPr algn="l">
              <a:lnSpc>
                <a:spcPts val="1500"/>
              </a:lnSpc>
            </a:pPr>
            <a:r>
              <a:rPr sz="950" b="0">
                <a:solidFill>
                  <a:srgbClr val="D099FF"/>
                </a:solidFill>
                <a:latin typeface="Calibri"/>
              </a:rPr>
              <a:t>Merge Agent 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341864" y="3112064"/>
            <a:ext cx="16459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A100FF"/>
                </a:solidFill>
                <a:latin typeface="Calibri"/>
              </a:rPr>
              <a:t>›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469880" y="2609144"/>
            <a:ext cx="1417320" cy="1576290"/>
          </a:xfrm>
          <a:prstGeom prst="rect">
            <a:avLst/>
          </a:prstGeom>
          <a:solidFill>
            <a:srgbClr val="2A0050"/>
          </a:solidFill>
          <a:ln w="1905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10543032" y="2682296"/>
            <a:ext cx="292608" cy="256032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0543032" y="2654864"/>
            <a:ext cx="292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61320" y="2974904"/>
            <a:ext cx="1234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Deploy + Close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561320" y="3267512"/>
            <a:ext cx="12344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950" b="0">
                <a:solidFill>
                  <a:srgbClr val="D099FF"/>
                </a:solidFill>
                <a:latin typeface="Calibri"/>
              </a:rPr>
              <a:t>Deploy Agent ⚡</a:t>
            </a:r>
          </a:p>
          <a:p>
            <a:pPr algn="l">
              <a:lnSpc>
                <a:spcPts val="1500"/>
              </a:lnSpc>
            </a:pPr>
            <a:r>
              <a:rPr sz="950" b="0">
                <a:solidFill>
                  <a:srgbClr val="D099FF"/>
                </a:solidFill>
                <a:latin typeface="Calibri"/>
              </a:rPr>
              <a:t>Verify health</a:t>
            </a:r>
          </a:p>
          <a:p>
            <a:pPr algn="l">
              <a:lnSpc>
                <a:spcPts val="1500"/>
              </a:lnSpc>
            </a:pPr>
            <a:r>
              <a:rPr sz="950" b="0">
                <a:solidFill>
                  <a:srgbClr val="D099FF"/>
                </a:solidFill>
                <a:latin typeface="Calibri"/>
              </a:rPr>
              <a:t>Ticket auto-closed ✅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806440" y="4440461"/>
            <a:ext cx="1417320" cy="402336"/>
          </a:xfrm>
          <a:prstGeom prst="rect">
            <a:avLst/>
          </a:prstGeom>
          <a:solidFill>
            <a:srgbClr val="560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720243" y="4517136"/>
            <a:ext cx="1417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 dirty="0">
                <a:solidFill>
                  <a:srgbClr val="FFFFFF"/>
                </a:solidFill>
                <a:latin typeface="Calibri"/>
              </a:rPr>
              <a:t>⚡ Under 1 hour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360920" y="4440461"/>
            <a:ext cx="1417320" cy="402336"/>
          </a:xfrm>
          <a:prstGeom prst="rect">
            <a:avLst/>
          </a:prstGeom>
          <a:solidFill>
            <a:srgbClr val="560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274723" y="4526280"/>
            <a:ext cx="1417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 dirty="0">
                <a:solidFill>
                  <a:srgbClr val="FFFFFF"/>
                </a:solidFill>
                <a:latin typeface="Calibri"/>
              </a:rPr>
              <a:t>🔌 Zero migration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915400" y="4440461"/>
            <a:ext cx="1417320" cy="402336"/>
          </a:xfrm>
          <a:prstGeom prst="rect">
            <a:avLst/>
          </a:prstGeom>
          <a:solidFill>
            <a:srgbClr val="560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901684" y="4509396"/>
            <a:ext cx="1417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 dirty="0">
                <a:solidFill>
                  <a:srgbClr val="FFFFFF"/>
                </a:solidFill>
                <a:latin typeface="Calibri"/>
              </a:rPr>
              <a:t>📄 Self-documenting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0469880" y="4440461"/>
            <a:ext cx="1417320" cy="402336"/>
          </a:xfrm>
          <a:prstGeom prst="rect">
            <a:avLst/>
          </a:prstGeom>
          <a:solidFill>
            <a:srgbClr val="560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10469880" y="4440461"/>
            <a:ext cx="1417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 dirty="0">
                <a:solidFill>
                  <a:srgbClr val="FFFFFF"/>
                </a:solidFill>
                <a:latin typeface="Calibri"/>
              </a:rPr>
              <a:t>🔒 Human always in loop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760720" y="5197314"/>
            <a:ext cx="6126480" cy="475488"/>
          </a:xfrm>
          <a:prstGeom prst="rect">
            <a:avLst/>
          </a:prstGeom>
          <a:solidFill>
            <a:srgbClr val="280050"/>
          </a:solidFill>
          <a:ln w="12700">
            <a:solidFill>
              <a:srgbClr val="7D2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5902452" y="5307881"/>
            <a:ext cx="599846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EEDDFF"/>
                </a:solidFill>
                <a:latin typeface="Calibri"/>
              </a:rPr>
              <a:t>💡  New tool tomorrow? ZeroBug figures it out — no update needed. IoT applied to AI agents.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28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228600" y="6601968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55BB"/>
                </a:solidFill>
                <a:latin typeface="Calibri"/>
              </a:rPr>
              <a:t>Agentic Workflows with Guardrails  |  DevSecOps  |  Cybersecurity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881360" y="6601968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55BB"/>
                </a:solidFill>
                <a:latin typeface="Calibri"/>
              </a:rPr>
              <a:t>Slide 2 / 6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641E4086-2FFC-1E53-8C9F-7AE41E569A5D}"/>
              </a:ext>
            </a:extLst>
          </p:cNvPr>
          <p:cNvSpPr/>
          <p:nvPr/>
        </p:nvSpPr>
        <p:spPr>
          <a:xfrm>
            <a:off x="5806440" y="6022374"/>
            <a:ext cx="1417320" cy="402336"/>
          </a:xfrm>
          <a:prstGeom prst="rect">
            <a:avLst/>
          </a:prstGeom>
          <a:solidFill>
            <a:srgbClr val="560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215CFF1-37E8-28D6-6E06-F0583078235F}"/>
              </a:ext>
            </a:extLst>
          </p:cNvPr>
          <p:cNvSpPr txBox="1"/>
          <p:nvPr/>
        </p:nvSpPr>
        <p:spPr>
          <a:xfrm>
            <a:off x="5760720" y="6080043"/>
            <a:ext cx="14173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 dirty="0">
                <a:solidFill>
                  <a:srgbClr val="FFFFFF"/>
                </a:solidFill>
                <a:latin typeface="Calibri"/>
              </a:rPr>
              <a:t>⚡ </a:t>
            </a:r>
            <a:r>
              <a:rPr lang="en-US" sz="1000" b="1" i="0" dirty="0">
                <a:solidFill>
                  <a:srgbClr val="FFFFFF"/>
                </a:solidFill>
                <a:latin typeface="Calibri"/>
              </a:rPr>
              <a:t>Claude (Anthropic)</a:t>
            </a:r>
            <a:endParaRPr sz="10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B4A86731-AD85-76D5-AAE3-ADAD0906BB29}"/>
              </a:ext>
            </a:extLst>
          </p:cNvPr>
          <p:cNvSpPr/>
          <p:nvPr/>
        </p:nvSpPr>
        <p:spPr>
          <a:xfrm>
            <a:off x="7360920" y="6022374"/>
            <a:ext cx="1417320" cy="402336"/>
          </a:xfrm>
          <a:prstGeom prst="rect">
            <a:avLst/>
          </a:prstGeom>
          <a:solidFill>
            <a:srgbClr val="560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4CF77B8-EA12-E725-CC01-0181D3880A01}"/>
              </a:ext>
            </a:extLst>
          </p:cNvPr>
          <p:cNvSpPr txBox="1"/>
          <p:nvPr/>
        </p:nvSpPr>
        <p:spPr>
          <a:xfrm>
            <a:off x="7360920" y="6022374"/>
            <a:ext cx="14173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 dirty="0">
                <a:solidFill>
                  <a:srgbClr val="FFFFFF"/>
                </a:solidFill>
                <a:latin typeface="Calibri"/>
              </a:rPr>
              <a:t>🔌 </a:t>
            </a:r>
            <a:r>
              <a:rPr lang="en-US" sz="1000" b="1" i="0" dirty="0">
                <a:solidFill>
                  <a:srgbClr val="FFFFFF"/>
                </a:solidFill>
                <a:latin typeface="Calibri"/>
              </a:rPr>
              <a:t>Multi-Agent Orchestration</a:t>
            </a:r>
            <a:endParaRPr sz="10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D4BD65F6-ED59-68F7-EDD1-E33B422B2332}"/>
              </a:ext>
            </a:extLst>
          </p:cNvPr>
          <p:cNvSpPr/>
          <p:nvPr/>
        </p:nvSpPr>
        <p:spPr>
          <a:xfrm>
            <a:off x="8915400" y="6022374"/>
            <a:ext cx="1417320" cy="402336"/>
          </a:xfrm>
          <a:prstGeom prst="rect">
            <a:avLst/>
          </a:prstGeom>
          <a:solidFill>
            <a:srgbClr val="560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03B373A-FC94-82AA-643A-297E09683149}"/>
              </a:ext>
            </a:extLst>
          </p:cNvPr>
          <p:cNvSpPr txBox="1"/>
          <p:nvPr/>
        </p:nvSpPr>
        <p:spPr>
          <a:xfrm>
            <a:off x="8901684" y="6098047"/>
            <a:ext cx="14173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 dirty="0">
                <a:solidFill>
                  <a:srgbClr val="FFFFFF"/>
                </a:solidFill>
                <a:latin typeface="Calibri"/>
              </a:rPr>
              <a:t>📄 </a:t>
            </a:r>
            <a:r>
              <a:rPr lang="en-US" sz="1000" b="1" i="0" dirty="0">
                <a:solidFill>
                  <a:srgbClr val="FFFFFF"/>
                </a:solidFill>
                <a:latin typeface="Calibri"/>
              </a:rPr>
              <a:t>Human-in-the-loop</a:t>
            </a:r>
            <a:endParaRPr sz="10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E05A99EC-6F76-4AA8-C0AB-ADD3AC9CF43E}"/>
              </a:ext>
            </a:extLst>
          </p:cNvPr>
          <p:cNvSpPr/>
          <p:nvPr/>
        </p:nvSpPr>
        <p:spPr>
          <a:xfrm>
            <a:off x="10469880" y="6022374"/>
            <a:ext cx="1417320" cy="402336"/>
          </a:xfrm>
          <a:prstGeom prst="rect">
            <a:avLst/>
          </a:prstGeom>
          <a:solidFill>
            <a:srgbClr val="560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89EB4668-8A15-6E65-E4A3-E46403FF176B}"/>
              </a:ext>
            </a:extLst>
          </p:cNvPr>
          <p:cNvSpPr txBox="1"/>
          <p:nvPr/>
        </p:nvSpPr>
        <p:spPr>
          <a:xfrm>
            <a:off x="10456164" y="6107475"/>
            <a:ext cx="14173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b="1" i="0" dirty="0">
                <a:solidFill>
                  <a:srgbClr val="FFFFFF"/>
                </a:solidFill>
                <a:latin typeface="Calibri"/>
              </a:rPr>
              <a:t>Zero Migration</a:t>
            </a:r>
            <a:endParaRPr sz="1000" b="1" i="0" dirty="0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54456" y="35086"/>
            <a:ext cx="12079912" cy="6787828"/>
          </a:xfrm>
          <a:prstGeom prst="rect">
            <a:avLst/>
          </a:prstGeom>
          <a:solidFill>
            <a:srgbClr val="22003E"/>
          </a:solidFill>
          <a:ln w="25400">
            <a:solidFill>
              <a:srgbClr val="FF88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163693" y="134928"/>
            <a:ext cx="11896344" cy="219456"/>
          </a:xfrm>
          <a:prstGeom prst="rect">
            <a:avLst/>
          </a:prstGeom>
          <a:solidFill>
            <a:srgbClr val="12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94193" y="164908"/>
            <a:ext cx="116004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 dirty="0">
                <a:solidFill>
                  <a:srgbClr val="FF8800"/>
                </a:solidFill>
                <a:latin typeface="Calibri"/>
              </a:rPr>
              <a:t>🔒 </a:t>
            </a:r>
            <a:r>
              <a:rPr lang="en-US" sz="900" b="0" i="0" dirty="0">
                <a:solidFill>
                  <a:srgbClr val="FF8800"/>
                </a:solidFill>
                <a:latin typeface="Calibri"/>
              </a:rPr>
              <a:t>Security Boundary – AWS </a:t>
            </a:r>
            <a:r>
              <a:rPr sz="900" b="0" i="0" dirty="0">
                <a:solidFill>
                  <a:srgbClr val="FF8800"/>
                </a:solidFill>
                <a:latin typeface="Calibri"/>
              </a:rPr>
              <a:t>VPC</a:t>
            </a:r>
            <a:r>
              <a:rPr lang="en-US" sz="900" b="0" i="0" dirty="0">
                <a:solidFill>
                  <a:srgbClr val="FF8800"/>
                </a:solidFill>
                <a:latin typeface="Calibri"/>
              </a:rPr>
              <a:t> (no data leaves)</a:t>
            </a:r>
            <a:r>
              <a:rPr sz="900" b="0" i="0" dirty="0">
                <a:solidFill>
                  <a:srgbClr val="FF8800"/>
                </a:solidFill>
                <a:latin typeface="Calibri"/>
              </a:rPr>
              <a:t> </a:t>
            </a:r>
            <a:r>
              <a:rPr lang="en-US" sz="900" b="0" i="0" dirty="0">
                <a:solidFill>
                  <a:srgbClr val="FF8800"/>
                </a:solidFill>
                <a:latin typeface="Calibri"/>
              </a:rPr>
              <a:t>-</a:t>
            </a:r>
            <a:r>
              <a:rPr sz="900" b="0" i="0" dirty="0">
                <a:solidFill>
                  <a:srgbClr val="FF8800"/>
                </a:solidFill>
                <a:latin typeface="Calibri"/>
              </a:rPr>
              <a:t> AWS us-east-1  ·  Bedrock zero-retention  ·  KMS </a:t>
            </a:r>
            <a:r>
              <a:rPr lang="en-US" sz="900" b="0" i="0" dirty="0">
                <a:solidFill>
                  <a:srgbClr val="FF8800"/>
                </a:solidFill>
                <a:latin typeface="Calibri"/>
              </a:rPr>
              <a:t>encryption </a:t>
            </a:r>
            <a:r>
              <a:rPr sz="900" b="0" i="0" dirty="0">
                <a:solidFill>
                  <a:srgbClr val="FF8800"/>
                </a:solidFill>
                <a:latin typeface="Calibri"/>
              </a:rPr>
              <a:t>at rest  ·  TLS in transit  ·  Sandbox Lambda  ·  Scoped IAM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475488"/>
            <a:ext cx="1883664" cy="310896"/>
          </a:xfrm>
          <a:prstGeom prst="rect">
            <a:avLst/>
          </a:prstGeom>
          <a:solidFill>
            <a:srgbClr val="428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50" dirty="0"/>
              <a:t>L1 INPUT LAYER</a:t>
            </a:r>
            <a:endParaRPr sz="850" dirty="0"/>
          </a:p>
        </p:txBody>
      </p:sp>
      <p:sp>
        <p:nvSpPr>
          <p:cNvPr id="8" name="Rectangle 7"/>
          <p:cNvSpPr/>
          <p:nvPr/>
        </p:nvSpPr>
        <p:spPr>
          <a:xfrm>
            <a:off x="201168" y="822960"/>
            <a:ext cx="1883664" cy="676656"/>
          </a:xfrm>
          <a:prstGeom prst="rect">
            <a:avLst/>
          </a:prstGeom>
          <a:solidFill>
            <a:srgbClr val="0D1A45"/>
          </a:solidFill>
          <a:ln w="12700">
            <a:solidFill>
              <a:srgbClr val="428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877824"/>
            <a:ext cx="17739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👤 User / Chat UI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152144"/>
            <a:ext cx="1773936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 dirty="0">
                <a:solidFill>
                  <a:srgbClr val="AACCFF"/>
                </a:solidFill>
                <a:latin typeface="Calibri"/>
              </a:rPr>
              <a:t>Natural language</a:t>
            </a:r>
            <a:r>
              <a:rPr lang="en-US" sz="850" b="0" i="0" dirty="0">
                <a:solidFill>
                  <a:srgbClr val="AACCFF"/>
                </a:solidFill>
                <a:latin typeface="Calibri"/>
              </a:rPr>
              <a:t> Prompts</a:t>
            </a:r>
            <a:endParaRPr sz="850" b="0" i="0" dirty="0">
              <a:solidFill>
                <a:srgbClr val="AACCFF"/>
              </a:solidFill>
              <a:latin typeface="Calibr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01168" y="1554480"/>
            <a:ext cx="1883664" cy="676656"/>
          </a:xfrm>
          <a:prstGeom prst="rect">
            <a:avLst/>
          </a:prstGeom>
          <a:solidFill>
            <a:srgbClr val="0D1A45"/>
          </a:solidFill>
          <a:ln w="12700">
            <a:solidFill>
              <a:srgbClr val="428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74320" y="1609344"/>
            <a:ext cx="17739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🎫 Jira · GitHub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1883664"/>
            <a:ext cx="17739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ACCFF"/>
                </a:solidFill>
                <a:latin typeface="Calibri"/>
              </a:rPr>
              <a:t>Tickets &amp; issues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" y="2286000"/>
            <a:ext cx="1883664" cy="676656"/>
          </a:xfrm>
          <a:prstGeom prst="rect">
            <a:avLst/>
          </a:prstGeom>
          <a:solidFill>
            <a:srgbClr val="0D1A45"/>
          </a:solidFill>
          <a:ln w="12700">
            <a:solidFill>
              <a:srgbClr val="428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74320" y="2340864"/>
            <a:ext cx="17739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🔍 SAST · DAST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2615184"/>
            <a:ext cx="1773936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850" b="0" i="0" dirty="0">
                <a:solidFill>
                  <a:srgbClr val="AACCFF"/>
                </a:solidFill>
                <a:latin typeface="Calibri"/>
              </a:rPr>
              <a:t>Static &amp; runtime scans</a:t>
            </a:r>
            <a:endParaRPr sz="850" b="0" i="0" dirty="0">
              <a:solidFill>
                <a:srgbClr val="AACCFF"/>
              </a:solidFill>
              <a:latin typeface="Calibri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01168" y="3017520"/>
            <a:ext cx="1883664" cy="676656"/>
          </a:xfrm>
          <a:prstGeom prst="rect">
            <a:avLst/>
          </a:prstGeom>
          <a:solidFill>
            <a:srgbClr val="0D1A45"/>
          </a:solidFill>
          <a:ln w="12700">
            <a:solidFill>
              <a:srgbClr val="428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74320" y="3072384"/>
            <a:ext cx="17739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📦 OSS · Rails Guard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3346704"/>
            <a:ext cx="1773936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850" b="0" i="0" dirty="0">
                <a:solidFill>
                  <a:srgbClr val="AACCFF"/>
                </a:solidFill>
                <a:latin typeface="Calibri"/>
              </a:rPr>
              <a:t>Dependency &amp; Policy Findings</a:t>
            </a:r>
            <a:endParaRPr sz="850" b="0" i="0" dirty="0">
              <a:solidFill>
                <a:srgbClr val="AACCFF"/>
              </a:solidFill>
              <a:latin typeface="Calibr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386648" y="2273353"/>
            <a:ext cx="1463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664488"/>
                </a:solidFill>
                <a:latin typeface="Calibri"/>
              </a:rPr>
              <a:t>›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11782" y="482100"/>
            <a:ext cx="7132320" cy="219456"/>
          </a:xfrm>
          <a:prstGeom prst="rect">
            <a:avLst/>
          </a:prstGeom>
          <a:solidFill>
            <a:srgbClr val="884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50" b="1" dirty="0">
                <a:solidFill>
                  <a:schemeClr val="bg1"/>
                </a:solidFill>
              </a:rPr>
              <a:t>L2 CONVERSATION &amp; CONTEXT LAYER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04288" y="694944"/>
            <a:ext cx="7132320" cy="402336"/>
          </a:xfrm>
          <a:prstGeom prst="rect">
            <a:avLst/>
          </a:prstGeom>
          <a:solidFill>
            <a:srgbClr val="180040"/>
          </a:solidFill>
          <a:ln w="10160">
            <a:solidFill>
              <a:srgbClr val="884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395728" y="749808"/>
            <a:ext cx="1682496" cy="274320"/>
          </a:xfrm>
          <a:prstGeom prst="rect">
            <a:avLst/>
          </a:prstGeom>
          <a:solidFill>
            <a:srgbClr val="884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50" b="1" dirty="0">
                <a:solidFill>
                  <a:schemeClr val="bg1"/>
                </a:solidFill>
              </a:rPr>
              <a:t>NL Interface</a:t>
            </a:r>
          </a:p>
          <a:p>
            <a:pPr algn="ctr"/>
            <a:r>
              <a:rPr lang="en-US" sz="800" dirty="0">
                <a:solidFill>
                  <a:schemeClr val="bg1"/>
                </a:solidFill>
              </a:rPr>
              <a:t>Parse Intent from free-form input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33088" y="749808"/>
            <a:ext cx="1682496" cy="274320"/>
          </a:xfrm>
          <a:prstGeom prst="rect">
            <a:avLst/>
          </a:prstGeom>
          <a:solidFill>
            <a:srgbClr val="884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50" b="1" dirty="0">
                <a:solidFill>
                  <a:schemeClr val="bg1"/>
                </a:solidFill>
              </a:rPr>
              <a:t>Context Window </a:t>
            </a:r>
            <a:r>
              <a:rPr lang="en-US" sz="850" b="1" dirty="0" err="1">
                <a:solidFill>
                  <a:schemeClr val="bg1"/>
                </a:solidFill>
              </a:rPr>
              <a:t>Mgr</a:t>
            </a:r>
            <a:endParaRPr lang="en-US" sz="850" b="1" dirty="0">
              <a:solidFill>
                <a:schemeClr val="bg1"/>
              </a:solidFill>
            </a:endParaRPr>
          </a:p>
          <a:p>
            <a:pPr algn="ctr"/>
            <a:r>
              <a:rPr lang="en-US" sz="800" dirty="0">
                <a:solidFill>
                  <a:schemeClr val="bg1"/>
                </a:solidFill>
              </a:rPr>
              <a:t>Multi-file codebase reasoning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870448" y="749808"/>
            <a:ext cx="1682496" cy="274320"/>
          </a:xfrm>
          <a:prstGeom prst="rect">
            <a:avLst/>
          </a:prstGeom>
          <a:solidFill>
            <a:srgbClr val="884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50" b="1" dirty="0">
                <a:solidFill>
                  <a:schemeClr val="bg1"/>
                </a:solidFill>
              </a:rPr>
              <a:t>Conversation Memory</a:t>
            </a:r>
          </a:p>
          <a:p>
            <a:pPr algn="ctr"/>
            <a:r>
              <a:rPr lang="en-US" sz="800" dirty="0">
                <a:solidFill>
                  <a:schemeClr val="bg1"/>
                </a:solidFill>
              </a:rPr>
              <a:t>Session state across turns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607808" y="749808"/>
            <a:ext cx="1682496" cy="274320"/>
          </a:xfrm>
          <a:prstGeom prst="rect">
            <a:avLst/>
          </a:prstGeom>
          <a:solidFill>
            <a:srgbClr val="884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50" b="1" dirty="0">
                <a:solidFill>
                  <a:schemeClr val="bg1"/>
                </a:solidFill>
              </a:rPr>
              <a:t>Vector Search</a:t>
            </a:r>
          </a:p>
          <a:p>
            <a:pPr algn="ctr"/>
            <a:r>
              <a:rPr lang="en-US" sz="800" dirty="0">
                <a:solidFill>
                  <a:schemeClr val="bg1"/>
                </a:solidFill>
              </a:rPr>
              <a:t>Semantic code retrieval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86064" y="1457438"/>
            <a:ext cx="7141464" cy="512064"/>
          </a:xfrm>
          <a:prstGeom prst="rect">
            <a:avLst/>
          </a:prstGeom>
          <a:solidFill>
            <a:srgbClr val="200050"/>
          </a:solidFill>
          <a:ln w="1905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406585" y="1465683"/>
            <a:ext cx="69311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 dirty="0">
                <a:solidFill>
                  <a:srgbClr val="FFFFFF"/>
                </a:solidFill>
                <a:latin typeface="Calibri"/>
              </a:rPr>
              <a:t>🧠  Orchestrator — powered by Claude (Anthropic)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406585" y="1712571"/>
            <a:ext cx="69311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CC99FF"/>
                </a:solidFill>
                <a:latin typeface="Calibri"/>
              </a:rPr>
              <a:t>Understands full context  ·  decides what agent is needed next  ·  coordinates entire pipeline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286064" y="2082679"/>
            <a:ext cx="7148958" cy="219456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50" b="1" dirty="0">
                <a:solidFill>
                  <a:srgbClr val="22003E"/>
                </a:solidFill>
              </a:rPr>
              <a:t>L4  ★  AGENT FACTORY  —  CORE INNOVATION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295208" y="2309929"/>
            <a:ext cx="7132320" cy="877824"/>
          </a:xfrm>
          <a:prstGeom prst="rect">
            <a:avLst/>
          </a:prstGeom>
          <a:solidFill>
            <a:srgbClr val="1A0C00"/>
          </a:solidFill>
          <a:ln w="2794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441512" y="2383081"/>
            <a:ext cx="142646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FFCC00"/>
                </a:solidFill>
                <a:latin typeface="Calibri"/>
              </a:rPr>
              <a:t>✍️  Agent Writer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867976" y="2401369"/>
            <a:ext cx="1737360" cy="237744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867976" y="2401369"/>
            <a:ext cx="1737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22003E"/>
                </a:solidFill>
                <a:latin typeface="Calibri"/>
              </a:rPr>
              <a:t>No pre-built connectors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678488" y="2401369"/>
            <a:ext cx="1737360" cy="237744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678488" y="2401369"/>
            <a:ext cx="1737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22003E"/>
                </a:solidFill>
                <a:latin typeface="Calibri"/>
              </a:rPr>
              <a:t>Stack-agnostic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489000" y="2401369"/>
            <a:ext cx="1737360" cy="237744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489000" y="2401369"/>
            <a:ext cx="1737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22003E"/>
                </a:solidFill>
                <a:latin typeface="Calibri"/>
              </a:rPr>
              <a:t>Future-proof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441512" y="2693977"/>
            <a:ext cx="687628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  <a:latin typeface="Calibri"/>
              </a:rPr>
              <a:t>Reads the need  →  writes agent code at runtime  →  spins up  →  runs it  →  discards when done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441512" y="2913433"/>
            <a:ext cx="687628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DD88"/>
                </a:solidFill>
                <a:latin typeface="Calibri"/>
              </a:rPr>
              <a:t>No hardcoded agents. Works with any tool, any version, any stack — today and tomorrow.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249424" y="3216456"/>
            <a:ext cx="7132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1" dirty="0">
                <a:solidFill>
                  <a:srgbClr val="FF9900"/>
                </a:solidFill>
                <a:latin typeface="Calibri"/>
              </a:rPr>
              <a:t>↓  generates on-the-fly  ↓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311846" y="3469424"/>
            <a:ext cx="7132320" cy="201168"/>
          </a:xfrm>
          <a:prstGeom prst="rect">
            <a:avLst/>
          </a:prstGeom>
          <a:solidFill>
            <a:srgbClr val="6644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50" b="1" dirty="0">
                <a:solidFill>
                  <a:schemeClr val="bg1"/>
                </a:solidFill>
              </a:rPr>
              <a:t>L5  RUNTIME AGENTS  —  generated · scoped to your exact setup · discarded after use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311782" y="3670592"/>
            <a:ext cx="1417384" cy="610100"/>
          </a:xfrm>
          <a:prstGeom prst="rect">
            <a:avLst/>
          </a:prstGeom>
          <a:solidFill>
            <a:srgbClr val="142245"/>
          </a:solidFill>
          <a:ln w="15240">
            <a:solidFill>
              <a:srgbClr val="6644B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2366710" y="3865165"/>
            <a:ext cx="28783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 dirty="0">
                <a:solidFill>
                  <a:srgbClr val="FFFFFF"/>
                </a:solidFill>
                <a:latin typeface="Calibri"/>
              </a:rPr>
              <a:t>🔌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599871" y="3787523"/>
            <a:ext cx="129844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 dirty="0">
                <a:solidFill>
                  <a:srgbClr val="FFFFFF"/>
                </a:solidFill>
                <a:latin typeface="Calibri"/>
              </a:rPr>
              <a:t>Connector</a:t>
            </a:r>
            <a:r>
              <a:rPr lang="en-US" sz="9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900" b="1" i="0" dirty="0">
                <a:solidFill>
                  <a:srgbClr val="FFFFFF"/>
                </a:solidFill>
                <a:latin typeface="Calibri"/>
              </a:rPr>
              <a:t>Agent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654545" y="4008176"/>
            <a:ext cx="832231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 dirty="0">
                <a:solidFill>
                  <a:srgbClr val="6644BB"/>
                </a:solidFill>
                <a:latin typeface="Calibri"/>
              </a:rPr>
              <a:t>⚡ generated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765742" y="3670592"/>
            <a:ext cx="1371600" cy="610100"/>
          </a:xfrm>
          <a:prstGeom prst="rect">
            <a:avLst/>
          </a:prstGeom>
          <a:solidFill>
            <a:srgbClr val="142245"/>
          </a:solidFill>
          <a:ln w="15240">
            <a:solidFill>
              <a:srgbClr val="6644B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3811462" y="3865164"/>
            <a:ext cx="32001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 dirty="0">
                <a:solidFill>
                  <a:srgbClr val="FFFFFF"/>
                </a:solidFill>
                <a:latin typeface="Calibri"/>
              </a:rPr>
              <a:t>📊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186377" y="3788295"/>
            <a:ext cx="9692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 dirty="0">
                <a:solidFill>
                  <a:srgbClr val="FFFFFF"/>
                </a:solidFill>
                <a:latin typeface="Calibri"/>
              </a:rPr>
              <a:t>Analysis</a:t>
            </a:r>
            <a:r>
              <a:rPr lang="en-US" sz="9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900" b="1" i="0" dirty="0">
                <a:solidFill>
                  <a:srgbClr val="FFFFFF"/>
                </a:solidFill>
                <a:latin typeface="Calibri"/>
              </a:rPr>
              <a:t>Agent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149757" y="4007139"/>
            <a:ext cx="762700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 dirty="0">
                <a:solidFill>
                  <a:srgbClr val="6644BB"/>
                </a:solidFill>
                <a:latin typeface="Calibri"/>
              </a:rPr>
              <a:t>⚡ generated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173918" y="3670592"/>
            <a:ext cx="1371600" cy="610100"/>
          </a:xfrm>
          <a:prstGeom prst="rect">
            <a:avLst/>
          </a:prstGeom>
          <a:solidFill>
            <a:srgbClr val="142245"/>
          </a:solidFill>
          <a:ln w="15240">
            <a:solidFill>
              <a:srgbClr val="6644B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211789" y="3879098"/>
            <a:ext cx="2893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 dirty="0">
                <a:solidFill>
                  <a:srgbClr val="FFFFFF"/>
                </a:solidFill>
                <a:latin typeface="Calibri"/>
              </a:rPr>
              <a:t>🛠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548843" y="3795484"/>
            <a:ext cx="95592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 dirty="0">
                <a:solidFill>
                  <a:srgbClr val="FFFFFF"/>
                </a:solidFill>
                <a:latin typeface="Calibri"/>
              </a:rPr>
              <a:t>Fix &amp; P</a:t>
            </a:r>
            <a:r>
              <a:rPr lang="en-US" sz="900" b="1" i="0" dirty="0">
                <a:solidFill>
                  <a:srgbClr val="FFFFFF"/>
                </a:solidFill>
                <a:latin typeface="Calibri"/>
              </a:rPr>
              <a:t>R </a:t>
            </a:r>
            <a:r>
              <a:rPr sz="900" b="1" i="0" dirty="0">
                <a:solidFill>
                  <a:srgbClr val="FFFFFF"/>
                </a:solidFill>
                <a:latin typeface="Calibri"/>
              </a:rPr>
              <a:t>Agent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471119" y="3993739"/>
            <a:ext cx="822960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 dirty="0">
                <a:solidFill>
                  <a:srgbClr val="6644BB"/>
                </a:solidFill>
                <a:latin typeface="Calibri"/>
              </a:rPr>
              <a:t>⚡ generated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582094" y="3670592"/>
            <a:ext cx="1371600" cy="610100"/>
          </a:xfrm>
          <a:prstGeom prst="rect">
            <a:avLst/>
          </a:prstGeom>
          <a:solidFill>
            <a:srgbClr val="142245"/>
          </a:solidFill>
          <a:ln w="15240">
            <a:solidFill>
              <a:srgbClr val="6644B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6624291" y="3847919"/>
            <a:ext cx="26022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 dirty="0">
                <a:solidFill>
                  <a:srgbClr val="FFFFFF"/>
                </a:solidFill>
                <a:latin typeface="Calibri"/>
              </a:rPr>
              <a:t>🔀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979418" y="3795484"/>
            <a:ext cx="94684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 dirty="0">
                <a:solidFill>
                  <a:srgbClr val="FFFFFF"/>
                </a:solidFill>
                <a:latin typeface="Calibri"/>
              </a:rPr>
              <a:t>Merge</a:t>
            </a:r>
            <a:r>
              <a:rPr lang="en-US" sz="9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900" b="1" i="0" dirty="0">
                <a:solidFill>
                  <a:srgbClr val="FFFFFF"/>
                </a:solidFill>
                <a:latin typeface="Calibri"/>
              </a:rPr>
              <a:t>Agent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008976" y="4001807"/>
            <a:ext cx="775891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 dirty="0">
                <a:solidFill>
                  <a:srgbClr val="6644BB"/>
                </a:solidFill>
                <a:latin typeface="Calibri"/>
              </a:rPr>
              <a:t>⚡ generated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990270" y="3670592"/>
            <a:ext cx="1444752" cy="610100"/>
          </a:xfrm>
          <a:prstGeom prst="rect">
            <a:avLst/>
          </a:prstGeom>
          <a:solidFill>
            <a:srgbClr val="142245"/>
          </a:solidFill>
          <a:ln w="15240">
            <a:solidFill>
              <a:srgbClr val="6644B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8017701" y="3857097"/>
            <a:ext cx="27611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 dirty="0">
                <a:solidFill>
                  <a:srgbClr val="FFFFFF"/>
                </a:solidFill>
                <a:latin typeface="Calibri"/>
              </a:rPr>
              <a:t>🚀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357829" y="3795484"/>
            <a:ext cx="97660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 dirty="0">
                <a:solidFill>
                  <a:srgbClr val="FFFFFF"/>
                </a:solidFill>
                <a:latin typeface="Calibri"/>
              </a:rPr>
              <a:t>Deploy</a:t>
            </a:r>
            <a:r>
              <a:rPr lang="en-US" sz="9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900" b="1" i="0" dirty="0">
                <a:solidFill>
                  <a:srgbClr val="FFFFFF"/>
                </a:solidFill>
                <a:latin typeface="Calibri"/>
              </a:rPr>
              <a:t>Agent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374318" y="4007138"/>
            <a:ext cx="812468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 dirty="0">
                <a:solidFill>
                  <a:srgbClr val="6644BB"/>
                </a:solidFill>
                <a:latin typeface="Calibri"/>
              </a:rPr>
              <a:t>⚡ generated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582708" y="512064"/>
            <a:ext cx="2403974" cy="44293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50" b="1" dirty="0">
                <a:solidFill>
                  <a:schemeClr val="bg1"/>
                </a:solidFill>
              </a:rPr>
              <a:t>L8  HUMAN APPROVAL LAYER —  mandatory  ·  no merge without explicit decision</a:t>
            </a:r>
          </a:p>
        </p:txBody>
      </p:sp>
      <p:sp>
        <p:nvSpPr>
          <p:cNvPr id="77" name="Rectangle 76"/>
          <p:cNvSpPr/>
          <p:nvPr/>
        </p:nvSpPr>
        <p:spPr>
          <a:xfrm>
            <a:off x="9581328" y="996355"/>
            <a:ext cx="2403974" cy="955550"/>
          </a:xfrm>
          <a:prstGeom prst="rect">
            <a:avLst/>
          </a:prstGeom>
          <a:solidFill>
            <a:srgbClr val="340065"/>
          </a:solidFill>
          <a:ln w="1905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9628390" y="1101643"/>
            <a:ext cx="227415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 dirty="0">
                <a:solidFill>
                  <a:srgbClr val="FFC01E"/>
                </a:solidFill>
                <a:latin typeface="Calibri"/>
              </a:rPr>
              <a:t>🔒 Gate 1 — Approve Scope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656281" y="1321499"/>
            <a:ext cx="2274156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 dirty="0">
                <a:solidFill>
                  <a:srgbClr val="D099FF"/>
                </a:solidFill>
                <a:latin typeface="Calibri"/>
              </a:rPr>
              <a:t>Review findings · confirm what to fix
before any code is written</a:t>
            </a:r>
          </a:p>
        </p:txBody>
      </p:sp>
      <p:sp>
        <p:nvSpPr>
          <p:cNvPr id="80" name="Rectangle 79"/>
          <p:cNvSpPr/>
          <p:nvPr/>
        </p:nvSpPr>
        <p:spPr>
          <a:xfrm>
            <a:off x="9581325" y="1965496"/>
            <a:ext cx="2403975" cy="877824"/>
          </a:xfrm>
          <a:prstGeom prst="rect">
            <a:avLst/>
          </a:prstGeom>
          <a:solidFill>
            <a:srgbClr val="340065"/>
          </a:solidFill>
          <a:ln w="1905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9626627" y="2020361"/>
            <a:ext cx="2303809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C01E"/>
                </a:solidFill>
                <a:latin typeface="Calibri"/>
              </a:rPr>
              <a:t>🔒 Gate 2 — Approve Diff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626627" y="2239817"/>
            <a:ext cx="2303809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 dirty="0">
                <a:solidFill>
                  <a:srgbClr val="D099FF"/>
                </a:solidFill>
                <a:latin typeface="Calibri"/>
              </a:rPr>
              <a:t>Review PR diff + reasoning · edit inline
approve before merge</a:t>
            </a:r>
          </a:p>
        </p:txBody>
      </p:sp>
      <p:sp>
        <p:nvSpPr>
          <p:cNvPr id="85" name="Rectangle 84"/>
          <p:cNvSpPr/>
          <p:nvPr/>
        </p:nvSpPr>
        <p:spPr>
          <a:xfrm>
            <a:off x="9581325" y="3055155"/>
            <a:ext cx="2403976" cy="201168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50" b="1" dirty="0">
                <a:solidFill>
                  <a:schemeClr val="bg1"/>
                </a:solidFill>
              </a:rPr>
              <a:t>L9  OUTPUT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582138" y="3259426"/>
            <a:ext cx="2403163" cy="842753"/>
          </a:xfrm>
          <a:prstGeom prst="rect">
            <a:avLst/>
          </a:prstGeom>
          <a:solidFill>
            <a:srgbClr val="2A0050"/>
          </a:solidFill>
          <a:ln w="1524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9673643" y="3314291"/>
            <a:ext cx="222965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 dirty="0">
                <a:solidFill>
                  <a:srgbClr val="FFFFFF"/>
                </a:solidFill>
                <a:latin typeface="Calibri"/>
              </a:rPr>
              <a:t>🔀 </a:t>
            </a:r>
            <a:r>
              <a:rPr lang="en-US" sz="10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000" b="1" i="0" dirty="0">
                <a:solidFill>
                  <a:srgbClr val="FFFFFF"/>
                </a:solidFill>
                <a:latin typeface="Calibri"/>
              </a:rPr>
              <a:t>PR Merged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673643" y="3533747"/>
            <a:ext cx="222965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099FF"/>
                </a:solidFill>
                <a:latin typeface="Calibri"/>
              </a:rPr>
              <a:t>Diff · reasoning
approver · timestamp</a:t>
            </a:r>
          </a:p>
        </p:txBody>
      </p:sp>
      <p:sp>
        <p:nvSpPr>
          <p:cNvPr id="90" name="Rectangle 89"/>
          <p:cNvSpPr/>
          <p:nvPr/>
        </p:nvSpPr>
        <p:spPr>
          <a:xfrm>
            <a:off x="9581325" y="4110010"/>
            <a:ext cx="2403162" cy="737680"/>
          </a:xfrm>
          <a:prstGeom prst="rect">
            <a:avLst/>
          </a:prstGeom>
          <a:solidFill>
            <a:srgbClr val="2A0050"/>
          </a:solidFill>
          <a:ln w="1524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9636189" y="4164874"/>
            <a:ext cx="22766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 dirty="0">
                <a:solidFill>
                  <a:srgbClr val="FFFFFF"/>
                </a:solidFill>
                <a:latin typeface="Calibri"/>
              </a:rPr>
              <a:t>🚀 Fix Live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636189" y="4384330"/>
            <a:ext cx="22766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099FF"/>
                </a:solidFill>
                <a:latin typeface="Calibri"/>
              </a:rPr>
              <a:t>Deployed to prod
monitored</a:t>
            </a:r>
          </a:p>
        </p:txBody>
      </p:sp>
      <p:sp>
        <p:nvSpPr>
          <p:cNvPr id="93" name="Rectangle 92"/>
          <p:cNvSpPr/>
          <p:nvPr/>
        </p:nvSpPr>
        <p:spPr>
          <a:xfrm>
            <a:off x="9581325" y="4861281"/>
            <a:ext cx="2403162" cy="783992"/>
          </a:xfrm>
          <a:prstGeom prst="rect">
            <a:avLst/>
          </a:prstGeom>
          <a:solidFill>
            <a:srgbClr val="2A0050"/>
          </a:solidFill>
          <a:ln w="1524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9636189" y="4916145"/>
            <a:ext cx="22766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✅ Ticket Closed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636189" y="5135601"/>
            <a:ext cx="22766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099FF"/>
                </a:solidFill>
                <a:latin typeface="Calibri"/>
              </a:rPr>
              <a:t>Jira auto-closed
PR link attached</a:t>
            </a:r>
          </a:p>
        </p:txBody>
      </p:sp>
      <p:sp>
        <p:nvSpPr>
          <p:cNvPr id="96" name="Rectangle 95"/>
          <p:cNvSpPr/>
          <p:nvPr/>
        </p:nvSpPr>
        <p:spPr>
          <a:xfrm>
            <a:off x="9581325" y="5658863"/>
            <a:ext cx="2403162" cy="758065"/>
          </a:xfrm>
          <a:prstGeom prst="rect">
            <a:avLst/>
          </a:prstGeom>
          <a:solidFill>
            <a:srgbClr val="2A0050"/>
          </a:solidFill>
          <a:ln w="1524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9636189" y="5713728"/>
            <a:ext cx="222973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📋 Audit Trail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9636189" y="5933184"/>
            <a:ext cx="222973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099FF"/>
                </a:solidFill>
                <a:latin typeface="Calibri"/>
              </a:rPr>
              <a:t>What changed · who
approved · when</a:t>
            </a:r>
          </a:p>
        </p:txBody>
      </p:sp>
      <p:sp>
        <p:nvSpPr>
          <p:cNvPr id="99" name="Rectangle 98"/>
          <p:cNvSpPr/>
          <p:nvPr/>
        </p:nvSpPr>
        <p:spPr>
          <a:xfrm>
            <a:off x="2311782" y="4394946"/>
            <a:ext cx="7148958" cy="219456"/>
          </a:xfrm>
          <a:prstGeom prst="rect">
            <a:avLst/>
          </a:prstGeom>
          <a:solidFill>
            <a:srgbClr val="4488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50" b="1" dirty="0">
                <a:solidFill>
                  <a:schemeClr val="bg1"/>
                </a:solidFill>
              </a:rPr>
              <a:t>L6  INTEGRATION &amp; API LAYER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2311782" y="4610353"/>
            <a:ext cx="1799718" cy="566928"/>
          </a:xfrm>
          <a:prstGeom prst="rect">
            <a:avLst/>
          </a:prstGeom>
          <a:solidFill>
            <a:srgbClr val="081422"/>
          </a:solidFill>
          <a:ln w="11430">
            <a:solidFill>
              <a:srgbClr val="4488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2364547" y="4665217"/>
            <a:ext cx="164861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Jira REST API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2364547" y="4884673"/>
            <a:ext cx="1648617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BDDFF"/>
                </a:solidFill>
                <a:latin typeface="Calibri"/>
              </a:rPr>
              <a:t>Read · update · close tickets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139346" y="4622825"/>
            <a:ext cx="1819244" cy="566928"/>
          </a:xfrm>
          <a:prstGeom prst="rect">
            <a:avLst/>
          </a:prstGeom>
          <a:solidFill>
            <a:srgbClr val="081422"/>
          </a:solidFill>
          <a:ln w="11430">
            <a:solidFill>
              <a:srgbClr val="4488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4175474" y="4677689"/>
            <a:ext cx="164861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GitHub API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175474" y="4897145"/>
            <a:ext cx="1648617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BDDFF"/>
                </a:solidFill>
                <a:latin typeface="Calibri"/>
              </a:rPr>
              <a:t>Read repo · open PR · merge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5964080" y="4632365"/>
            <a:ext cx="1755854" cy="566928"/>
          </a:xfrm>
          <a:prstGeom prst="rect">
            <a:avLst/>
          </a:prstGeom>
          <a:solidFill>
            <a:srgbClr val="081422"/>
          </a:solidFill>
          <a:ln w="11430">
            <a:solidFill>
              <a:srgbClr val="4488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6010755" y="4687229"/>
            <a:ext cx="164861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CI/CD Webhook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010755" y="4906685"/>
            <a:ext cx="1648617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 dirty="0">
                <a:solidFill>
                  <a:srgbClr val="BBDDFF"/>
                </a:solidFill>
                <a:latin typeface="Calibri"/>
              </a:rPr>
              <a:t>Trigger pipelines · rollout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733928" y="4626035"/>
            <a:ext cx="1726812" cy="566928"/>
          </a:xfrm>
          <a:prstGeom prst="rect">
            <a:avLst/>
          </a:prstGeom>
          <a:solidFill>
            <a:srgbClr val="081422"/>
          </a:solidFill>
          <a:ln w="11430">
            <a:solidFill>
              <a:srgbClr val="4488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7770055" y="4680899"/>
            <a:ext cx="164861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Scanner APIs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770055" y="4900355"/>
            <a:ext cx="1648617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BDDFF"/>
                </a:solidFill>
                <a:latin typeface="Calibri"/>
              </a:rPr>
              <a:t>SAST · DAST · OSS · Rails Guard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2295144" y="5280733"/>
            <a:ext cx="7132320" cy="219456"/>
          </a:xfrm>
          <a:prstGeom prst="rect">
            <a:avLst/>
          </a:prstGeom>
          <a:solidFill>
            <a:srgbClr val="447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50" b="1" dirty="0">
                <a:solidFill>
                  <a:schemeClr val="bg1"/>
                </a:solidFill>
              </a:rPr>
              <a:t>L7  DATA &amp; PERSISTENCE LAYER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2295144" y="5500446"/>
            <a:ext cx="2404272" cy="523037"/>
          </a:xfrm>
          <a:prstGeom prst="rect">
            <a:avLst/>
          </a:prstGeom>
          <a:solidFill>
            <a:srgbClr val="081028"/>
          </a:solidFill>
          <a:ln w="11430">
            <a:solidFill>
              <a:srgbClr val="447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2368296" y="5556959"/>
            <a:ext cx="2232259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DynamoDB Sessions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2368296" y="5759956"/>
            <a:ext cx="223225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BDDFF"/>
                </a:solidFill>
                <a:latin typeface="Calibri"/>
              </a:rPr>
              <a:t>conversation · credentials ciphertext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4713732" y="5497922"/>
            <a:ext cx="2384111" cy="523037"/>
          </a:xfrm>
          <a:prstGeom prst="rect">
            <a:avLst/>
          </a:prstGeom>
          <a:solidFill>
            <a:srgbClr val="081028"/>
          </a:solidFill>
          <a:ln w="11430">
            <a:solidFill>
              <a:srgbClr val="447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4786884" y="5554435"/>
            <a:ext cx="2232259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DynamoDB Approvals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4786884" y="5757432"/>
            <a:ext cx="223225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BDDFF"/>
                </a:solidFill>
                <a:latin typeface="Calibri"/>
              </a:rPr>
              <a:t>immutable approval records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7089327" y="5510410"/>
            <a:ext cx="2338137" cy="513544"/>
          </a:xfrm>
          <a:prstGeom prst="rect">
            <a:avLst/>
          </a:prstGeom>
          <a:solidFill>
            <a:srgbClr val="081028"/>
          </a:solidFill>
          <a:ln w="11430">
            <a:solidFill>
              <a:srgbClr val="447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7162479" y="5574417"/>
            <a:ext cx="2232259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Audit Log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7162479" y="5777414"/>
            <a:ext cx="223225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BDDFF"/>
                </a:solidFill>
                <a:latin typeface="Calibri"/>
              </a:rPr>
              <a:t>every action · full reasoning chain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6094412" y="6040726"/>
            <a:ext cx="3342196" cy="475488"/>
          </a:xfrm>
          <a:prstGeom prst="rect">
            <a:avLst/>
          </a:prstGeom>
          <a:solidFill>
            <a:srgbClr val="081028"/>
          </a:solidFill>
          <a:ln w="11430">
            <a:solidFill>
              <a:srgbClr val="447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TextBox 124"/>
          <p:cNvSpPr txBox="1"/>
          <p:nvPr/>
        </p:nvSpPr>
        <p:spPr>
          <a:xfrm>
            <a:off x="6209181" y="6077302"/>
            <a:ext cx="3190851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AWS KMS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6209181" y="6278470"/>
            <a:ext cx="319085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BDDFF"/>
                </a:solidFill>
                <a:latin typeface="Calibri"/>
              </a:rPr>
              <a:t>alias/zerobug · double-layer encrypt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2304224" y="6033247"/>
            <a:ext cx="3790188" cy="475488"/>
          </a:xfrm>
          <a:prstGeom prst="rect">
            <a:avLst/>
          </a:prstGeom>
          <a:solidFill>
            <a:srgbClr val="081028"/>
          </a:solidFill>
          <a:ln w="11430">
            <a:solidFill>
              <a:srgbClr val="447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2377375" y="6069823"/>
            <a:ext cx="3618557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Vector Store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2377375" y="6270991"/>
            <a:ext cx="361855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BDDFF"/>
                </a:solidFill>
                <a:latin typeface="Calibri"/>
              </a:rPr>
              <a:t>code embeddings · semantic search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0085832" y="6547104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F8800"/>
                </a:solidFill>
                <a:latin typeface="Calibri"/>
              </a:rPr>
              <a:t>☁ AWS Cloud — us-east-1</a:t>
            </a: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9BDADEF9-56EC-2E65-35C8-42F67066050F}"/>
              </a:ext>
            </a:extLst>
          </p:cNvPr>
          <p:cNvSpPr/>
          <p:nvPr/>
        </p:nvSpPr>
        <p:spPr>
          <a:xfrm>
            <a:off x="2293558" y="1227939"/>
            <a:ext cx="7132320" cy="219456"/>
          </a:xfrm>
          <a:prstGeom prst="rect">
            <a:avLst/>
          </a:prstGeom>
          <a:solidFill>
            <a:srgbClr val="884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50" b="1" dirty="0">
                <a:solidFill>
                  <a:schemeClr val="bg1"/>
                </a:solidFill>
              </a:rPr>
              <a:t>L3 ORCHESTRATION LAYER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40D16F-AF54-50F4-72E5-54828489E2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2AD8C54-82E1-0DDA-468F-BA6D0C277400}"/>
              </a:ext>
            </a:extLst>
          </p:cNvPr>
          <p:cNvSpPr/>
          <p:nvPr/>
        </p:nvSpPr>
        <p:spPr>
          <a:xfrm>
            <a:off x="0" y="303783"/>
            <a:ext cx="12188952" cy="6858000"/>
          </a:xfrm>
          <a:prstGeom prst="rect">
            <a:avLst/>
          </a:prstGeom>
          <a:solidFill>
            <a:srgbClr val="2A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66A91A5-6BAF-BD43-E62E-0C5C513E1C59}"/>
              </a:ext>
            </a:extLst>
          </p:cNvPr>
          <p:cNvSpPr/>
          <p:nvPr/>
        </p:nvSpPr>
        <p:spPr>
          <a:xfrm>
            <a:off x="0" y="303783"/>
            <a:ext cx="4663440" cy="6858000"/>
          </a:xfrm>
          <a:prstGeom prst="rect">
            <a:avLst/>
          </a:prstGeom>
          <a:solidFill>
            <a:srgbClr val="28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275DE20-400F-798E-165E-ADD40C1DEAAD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191006-EEC9-2D81-7699-9D298E2CC63D}"/>
              </a:ext>
            </a:extLst>
          </p:cNvPr>
          <p:cNvSpPr txBox="1"/>
          <p:nvPr/>
        </p:nvSpPr>
        <p:spPr>
          <a:xfrm>
            <a:off x="365760" y="457200"/>
            <a:ext cx="1828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0" b="1" i="0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2641F2-A1C5-CBBC-273A-5AA1C0697F8E}"/>
              </a:ext>
            </a:extLst>
          </p:cNvPr>
          <p:cNvSpPr txBox="1"/>
          <p:nvPr/>
        </p:nvSpPr>
        <p:spPr>
          <a:xfrm>
            <a:off x="276126" y="4023360"/>
            <a:ext cx="4160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 dirty="0">
                <a:solidFill>
                  <a:srgbClr val="D099FF"/>
                </a:solidFill>
                <a:latin typeface="Calibri"/>
              </a:rPr>
              <a:t>Let There Be Change.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AFBB7C2-5442-106F-22E2-E126CAC45FE7}"/>
              </a:ext>
            </a:extLst>
          </p:cNvPr>
          <p:cNvSpPr/>
          <p:nvPr/>
        </p:nvSpPr>
        <p:spPr>
          <a:xfrm>
            <a:off x="365760" y="4389120"/>
            <a:ext cx="3200400" cy="36576"/>
          </a:xfrm>
          <a:prstGeom prst="rect">
            <a:avLst/>
          </a:prstGeom>
          <a:solidFill>
            <a:srgbClr val="560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1E94017-D17E-00F1-F9D2-366BEC27F130}"/>
              </a:ext>
            </a:extLst>
          </p:cNvPr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28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CB23841-66D2-912F-D6B0-ED1158776044}"/>
              </a:ext>
            </a:extLst>
          </p:cNvPr>
          <p:cNvSpPr txBox="1"/>
          <p:nvPr/>
        </p:nvSpPr>
        <p:spPr>
          <a:xfrm>
            <a:off x="228600" y="6601968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55BB"/>
                </a:solidFill>
                <a:latin typeface="Calibri"/>
              </a:rPr>
              <a:t>Agentic Workflows with Guardrails  |  DevSecOps  |  Cybersecurity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48D2A03-708A-0561-D660-065667B81C8F}"/>
              </a:ext>
            </a:extLst>
          </p:cNvPr>
          <p:cNvSpPr txBox="1"/>
          <p:nvPr/>
        </p:nvSpPr>
        <p:spPr>
          <a:xfrm>
            <a:off x="10881360" y="6601968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55BB"/>
                </a:solidFill>
                <a:latin typeface="Calibri"/>
              </a:rPr>
              <a:t>Slide 1 / 6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A969054-DDA5-863E-7F16-F4D96F98659A}"/>
              </a:ext>
            </a:extLst>
          </p:cNvPr>
          <p:cNvSpPr/>
          <p:nvPr/>
        </p:nvSpPr>
        <p:spPr>
          <a:xfrm>
            <a:off x="5029200" y="3913406"/>
            <a:ext cx="5742432" cy="1719072"/>
          </a:xfrm>
          <a:prstGeom prst="rect">
            <a:avLst/>
          </a:prstGeom>
          <a:solidFill>
            <a:srgbClr val="280050"/>
          </a:solidFill>
          <a:ln w="25400">
            <a:solidFill>
              <a:srgbClr val="FFC0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6EFEAB0-C76D-4DF0-9FAE-B1C5B59ED14A}"/>
              </a:ext>
            </a:extLst>
          </p:cNvPr>
          <p:cNvSpPr/>
          <p:nvPr/>
        </p:nvSpPr>
        <p:spPr>
          <a:xfrm>
            <a:off x="5102352" y="3986558"/>
            <a:ext cx="5596128" cy="1554480"/>
          </a:xfrm>
          <a:prstGeom prst="rect">
            <a:avLst/>
          </a:prstGeom>
          <a:solidFill>
            <a:srgbClr val="280050"/>
          </a:solidFill>
          <a:ln w="10160">
            <a:solidFill>
              <a:srgbClr val="5522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hlinkClick r:id="rId3"/>
            <a:extLst>
              <a:ext uri="{FF2B5EF4-FFF2-40B4-BE49-F238E27FC236}">
                <a16:creationId xmlns:a16="http://schemas.microsoft.com/office/drawing/2014/main" id="{0D633DFE-0E60-A0B4-C30D-2164071BA6B1}"/>
              </a:ext>
            </a:extLst>
          </p:cNvPr>
          <p:cNvSpPr txBox="1"/>
          <p:nvPr/>
        </p:nvSpPr>
        <p:spPr>
          <a:xfrm>
            <a:off x="4595714" y="4453787"/>
            <a:ext cx="196536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 dirty="0">
                <a:solidFill>
                  <a:schemeClr val="bg2"/>
                </a:solidFill>
                <a:latin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</a:t>
            </a:r>
            <a:endParaRPr sz="4000" b="1" i="0" dirty="0">
              <a:solidFill>
                <a:schemeClr val="bg2"/>
              </a:solidFill>
              <a:latin typeface="Calibri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29E1830-BE34-E89F-24F0-35C4C427C9F4}"/>
              </a:ext>
            </a:extLst>
          </p:cNvPr>
          <p:cNvSpPr txBox="1"/>
          <p:nvPr/>
        </p:nvSpPr>
        <p:spPr>
          <a:xfrm>
            <a:off x="276126" y="1745368"/>
            <a:ext cx="623739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 i="0" dirty="0">
                <a:solidFill>
                  <a:srgbClr val="FFFFFF"/>
                </a:solidFill>
                <a:latin typeface="Calibri"/>
              </a:rPr>
              <a:t>DEMO VIDEO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9F30167-CC12-49DE-EB64-6FB3DC5C6AB8}"/>
              </a:ext>
            </a:extLst>
          </p:cNvPr>
          <p:cNvSpPr txBox="1"/>
          <p:nvPr/>
        </p:nvSpPr>
        <p:spPr>
          <a:xfrm>
            <a:off x="6039612" y="4442094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i="1" dirty="0">
                <a:solidFill>
                  <a:srgbClr val="FFC01E"/>
                </a:solidFill>
              </a:rPr>
              <a:t>VIDEO URL: &lt; COPY PASTE IN BROWSER&gt; https://</a:t>
            </a:r>
            <a:r>
              <a:rPr lang="en-US" sz="1200" i="1" dirty="0" err="1">
                <a:solidFill>
                  <a:srgbClr val="FFC01E"/>
                </a:solidFill>
              </a:rPr>
              <a:t>mediaexchange.accenture.com</a:t>
            </a:r>
            <a:r>
              <a:rPr lang="en-US" sz="1200" i="1" dirty="0">
                <a:solidFill>
                  <a:srgbClr val="FFC01E"/>
                </a:solidFill>
              </a:rPr>
              <a:t>/media/t/1_o3agb3w5</a:t>
            </a:r>
            <a:endParaRPr sz="1200" b="0" i="1" dirty="0">
              <a:solidFill>
                <a:srgbClr val="FFC01E"/>
              </a:solidFill>
              <a:latin typeface="Calibri"/>
            </a:endParaRPr>
          </a:p>
        </p:txBody>
      </p:sp>
      <p:sp>
        <p:nvSpPr>
          <p:cNvPr id="28" name="TextBox 27">
            <a:hlinkClick r:id="rId3"/>
            <a:extLst>
              <a:ext uri="{FF2B5EF4-FFF2-40B4-BE49-F238E27FC236}">
                <a16:creationId xmlns:a16="http://schemas.microsoft.com/office/drawing/2014/main" id="{FE8641B9-5BEA-F3F1-8CC1-4F226BF4C56F}"/>
              </a:ext>
            </a:extLst>
          </p:cNvPr>
          <p:cNvSpPr txBox="1"/>
          <p:nvPr/>
        </p:nvSpPr>
        <p:spPr>
          <a:xfrm>
            <a:off x="8579556" y="4944434"/>
            <a:ext cx="15237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1" i="0" dirty="0">
                <a:solidFill>
                  <a:schemeClr val="bg2"/>
                </a:solidFill>
                <a:latin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OR Click Here</a:t>
            </a:r>
            <a:endParaRPr sz="1800" b="1" i="0" dirty="0">
              <a:solidFill>
                <a:schemeClr val="bg2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985422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A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583680" y="0"/>
            <a:ext cx="5605272" cy="6858000"/>
          </a:xfrm>
          <a:prstGeom prst="rect">
            <a:avLst/>
          </a:prstGeom>
          <a:solidFill>
            <a:srgbClr val="28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2079224" y="0"/>
            <a:ext cx="109728" cy="68580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961120" y="73152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0" b="1" i="0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6400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 i="0" dirty="0">
                <a:solidFill>
                  <a:srgbClr val="FFFFFF"/>
                </a:solidFill>
                <a:latin typeface="Calibri"/>
              </a:rPr>
              <a:t>Thank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377440"/>
            <a:ext cx="6400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 i="0">
                <a:solidFill>
                  <a:srgbClr val="A100FF"/>
                </a:solidFill>
                <a:latin typeface="Calibri"/>
              </a:rPr>
              <a:t>You.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794760"/>
            <a:ext cx="4114800" cy="36576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3950208"/>
            <a:ext cx="5943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099FF"/>
                </a:solidFill>
                <a:latin typeface="Calibri"/>
              </a:rPr>
              <a:t>Built for Hackathon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306824"/>
            <a:ext cx="5943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 dirty="0" err="1">
                <a:solidFill>
                  <a:srgbClr val="8855BB"/>
                </a:solidFill>
                <a:latin typeface="Calibri"/>
              </a:rPr>
              <a:t>ZeroBug</a:t>
            </a:r>
            <a:r>
              <a:rPr sz="1200" b="0" i="1" dirty="0">
                <a:solidFill>
                  <a:srgbClr val="8855BB"/>
                </a:solidFill>
                <a:latin typeface="Calibri"/>
              </a:rPr>
              <a:t> — Agentic AI · Guardrails · </a:t>
            </a:r>
            <a:r>
              <a:rPr sz="1200" b="0" i="1" dirty="0" err="1">
                <a:solidFill>
                  <a:srgbClr val="8855BB"/>
                </a:solidFill>
                <a:latin typeface="Calibri"/>
              </a:rPr>
              <a:t>DevSecOps</a:t>
            </a:r>
            <a:endParaRPr sz="1200" b="0" i="1" dirty="0">
              <a:solidFill>
                <a:srgbClr val="8855BB"/>
              </a:solidFill>
              <a:latin typeface="Calibri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28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28600" y="6601968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55BB"/>
                </a:solidFill>
                <a:latin typeface="Calibri"/>
              </a:rPr>
              <a:t>Agentic Workflows with Guardrails  |  DevSecOps  |  Cybersecurity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81360" y="6601968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55BB"/>
                </a:solidFill>
                <a:latin typeface="Calibri"/>
              </a:rPr>
              <a:t>Slide 6 / 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AD4CEF-1B33-9B61-88B3-A7B61D0C4371}"/>
              </a:ext>
            </a:extLst>
          </p:cNvPr>
          <p:cNvSpPr txBox="1"/>
          <p:nvPr/>
        </p:nvSpPr>
        <p:spPr>
          <a:xfrm>
            <a:off x="5797296" y="3831336"/>
            <a:ext cx="5943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i="1" dirty="0">
                <a:solidFill>
                  <a:schemeClr val="bg1"/>
                </a:solidFill>
                <a:latin typeface="Calibri"/>
              </a:rPr>
              <a:t>Next Slides : Security &amp; FAQ</a:t>
            </a:r>
            <a:endParaRPr sz="3600" b="0" i="1" dirty="0">
              <a:solidFill>
                <a:schemeClr val="bg1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A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8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56032" y="54864"/>
            <a:ext cx="25603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A100FF"/>
                </a:solidFill>
                <a:latin typeface="Calibri"/>
              </a:rPr>
              <a:t>ZeroBug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93392" y="0"/>
            <a:ext cx="365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070FF"/>
                </a:solidFill>
                <a:latin typeface="Calibri"/>
              </a:rPr>
              <a:t>&gt;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31720" y="18288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D099FF"/>
                </a:solidFill>
                <a:latin typeface="Calibri"/>
              </a:rPr>
              <a:t>Security Architecture  ·  Data Residency  ·  Token Lifecycle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032" y="932688"/>
            <a:ext cx="11676888" cy="585216"/>
          </a:xfrm>
          <a:prstGeom prst="rect">
            <a:avLst/>
          </a:prstGeom>
          <a:solidFill>
            <a:srgbClr val="2A0050"/>
          </a:solidFill>
          <a:ln w="2286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10896" y="1105333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FFFFFF"/>
                </a:solidFill>
                <a:latin typeface="Calibri"/>
              </a:rPr>
              <a:t>✅  The PAT never reaches the LLM — ever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" y="1664208"/>
            <a:ext cx="1170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100FF"/>
                </a:solidFill>
                <a:latin typeface="Calibri"/>
              </a:rPr>
              <a:t>TOKEN LIFECYCLE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6032" y="1993392"/>
            <a:ext cx="2267712" cy="836886"/>
          </a:xfrm>
          <a:prstGeom prst="rect">
            <a:avLst/>
          </a:prstGeom>
          <a:solidFill>
            <a:srgbClr val="280050"/>
          </a:solidFill>
          <a:ln w="1524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10896" y="2048256"/>
            <a:ext cx="256032" cy="237744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10896" y="2048256"/>
            <a:ext cx="2560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2039112"/>
            <a:ext cx="18470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Browser → HTTPS POST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" y="2286000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D099FF"/>
                </a:solidFill>
                <a:latin typeface="Calibri"/>
              </a:rPr>
              <a:t>Token entered in CredentialForm.jsx · sent over HTTPS · never stored in frontend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32888" y="2176272"/>
            <a:ext cx="9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A100FF"/>
                </a:solidFill>
                <a:latin typeface="Calibri"/>
              </a:rPr>
              <a:t>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96896" y="1993392"/>
            <a:ext cx="2267712" cy="855174"/>
          </a:xfrm>
          <a:prstGeom prst="rect">
            <a:avLst/>
          </a:prstGeom>
          <a:solidFill>
            <a:srgbClr val="280050"/>
          </a:solidFill>
          <a:ln w="15240">
            <a:solidFill>
              <a:srgbClr val="560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651760" y="2048256"/>
            <a:ext cx="256032" cy="237744"/>
          </a:xfrm>
          <a:prstGeom prst="rect">
            <a:avLst/>
          </a:prstGeom>
          <a:solidFill>
            <a:srgbClr val="560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651760" y="2048256"/>
            <a:ext cx="2560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62656" y="2039112"/>
            <a:ext cx="18470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Backend encrypts immediately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51760" y="2286000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D099FF"/>
                </a:solidFill>
                <a:latin typeface="Calibri"/>
              </a:rPr>
              <a:t>credentials.py: kms.encrypt(KeyId=KMS_KEY_ID, Plaintext=token.encode()) → base64 ciphertext → DynamoDB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73752" y="2176272"/>
            <a:ext cx="9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A100FF"/>
                </a:solidFill>
                <a:latin typeface="Calibri"/>
              </a:rPr>
              <a:t>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937760" y="1993392"/>
            <a:ext cx="2267712" cy="855174"/>
          </a:xfrm>
          <a:prstGeom prst="rect">
            <a:avLst/>
          </a:prstGeom>
          <a:solidFill>
            <a:srgbClr val="280050"/>
          </a:solidFill>
          <a:ln w="15240">
            <a:solidFill>
              <a:srgbClr val="560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992624" y="2048256"/>
            <a:ext cx="256032" cy="237744"/>
          </a:xfrm>
          <a:prstGeom prst="rect">
            <a:avLst/>
          </a:prstGeom>
          <a:solidFill>
            <a:srgbClr val="560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992624" y="2048256"/>
            <a:ext cx="2560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0" y="2039112"/>
            <a:ext cx="18470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Model sees env-var NAME only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92624" y="2286000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 dirty="0">
                <a:solidFill>
                  <a:srgbClr val="D099FF"/>
                </a:solidFill>
                <a:latin typeface="Calibri"/>
              </a:rPr>
              <a:t>Claude receives: </a:t>
            </a:r>
            <a:r>
              <a:rPr sz="850" b="0" i="0" dirty="0" err="1">
                <a:solidFill>
                  <a:srgbClr val="D099FF"/>
                </a:solidFill>
                <a:latin typeface="Calibri"/>
              </a:rPr>
              <a:t>os.environ</a:t>
            </a:r>
            <a:r>
              <a:rPr sz="850" b="0" i="0" dirty="0">
                <a:solidFill>
                  <a:srgbClr val="D099FF"/>
                </a:solidFill>
                <a:latin typeface="Calibri"/>
              </a:rPr>
              <a:t>["GITHUB_PAT"] — just the key name, never the value. System prompt forbids printing secrets.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14616" y="2176272"/>
            <a:ext cx="9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A100FF"/>
                </a:solidFill>
                <a:latin typeface="Calibri"/>
              </a:rPr>
              <a:t>›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278624" y="1993392"/>
            <a:ext cx="2267712" cy="855174"/>
          </a:xfrm>
          <a:prstGeom prst="rect">
            <a:avLst/>
          </a:prstGeom>
          <a:solidFill>
            <a:srgbClr val="280050"/>
          </a:solidFill>
          <a:ln w="15240">
            <a:solidFill>
              <a:srgbClr val="560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333488" y="2048256"/>
            <a:ext cx="256032" cy="237744"/>
          </a:xfrm>
          <a:prstGeom prst="rect">
            <a:avLst/>
          </a:prstGeom>
          <a:solidFill>
            <a:srgbClr val="560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333488" y="2048256"/>
            <a:ext cx="2560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44384" y="2039112"/>
            <a:ext cx="18470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Decrypt just-in-time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33488" y="2286000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D099FF"/>
                </a:solidFill>
                <a:latin typeface="Calibri"/>
              </a:rPr>
              <a:t>handler.py: kms.decrypt() right before sandbox — plaintext lives in memory only, never logged or stored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55480" y="2176272"/>
            <a:ext cx="9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A100FF"/>
                </a:solidFill>
                <a:latin typeface="Calibri"/>
              </a:rPr>
              <a:t>›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619488" y="1993391"/>
            <a:ext cx="2267712" cy="820779"/>
          </a:xfrm>
          <a:prstGeom prst="rect">
            <a:avLst/>
          </a:prstGeom>
          <a:solidFill>
            <a:srgbClr val="2A0050"/>
          </a:solidFill>
          <a:ln w="1524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9674352" y="2048256"/>
            <a:ext cx="256032" cy="237744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674352" y="2048256"/>
            <a:ext cx="2560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85248" y="2039112"/>
            <a:ext cx="18470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Inject → Run → Clear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74352" y="2286000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D099FF"/>
                </a:solidFill>
                <a:latin typeface="Calibri"/>
              </a:rPr>
              <a:t>os.environ[key]=value for exec() duration · daemon thread 30s · finally: restore env — plaintext gone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56032" y="2905611"/>
            <a:ext cx="11676888" cy="457200"/>
          </a:xfrm>
          <a:prstGeom prst="rect">
            <a:avLst/>
          </a:prstGeom>
          <a:solidFill>
            <a:srgbClr val="340065"/>
          </a:solidFill>
          <a:ln w="1524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59536" y="3006195"/>
            <a:ext cx="11430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 dirty="0">
                <a:solidFill>
                  <a:srgbClr val="EEDDFF"/>
                </a:solidFill>
                <a:latin typeface="Calibri"/>
              </a:rPr>
              <a:t>Net effect: plaintext token exists in 3 places only — browser memory · HTTPS POST body · sandbox process memory (seconds).  Never stored, never logged, never sent to any LLM.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56032" y="3490827"/>
            <a:ext cx="1170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100FF"/>
                </a:solidFill>
                <a:latin typeface="Calibri"/>
              </a:rPr>
              <a:t>SECURITY PILLARS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28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228600" y="6601968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55BB"/>
                </a:solidFill>
                <a:latin typeface="Calibri"/>
              </a:rPr>
              <a:t>Agentic Workflows with Guardrails  |  DevSecOps  |  Cybersecurity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881360" y="6601968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55BB"/>
                </a:solidFill>
                <a:latin typeface="Calibri"/>
              </a:rPr>
              <a:t>Slide 4 / 6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56032" y="3783435"/>
            <a:ext cx="3749039" cy="1316736"/>
          </a:xfrm>
          <a:prstGeom prst="rect">
            <a:avLst/>
          </a:prstGeom>
          <a:solidFill>
            <a:srgbClr val="280050"/>
          </a:solidFill>
          <a:ln w="11430">
            <a:solidFill>
              <a:srgbClr val="560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365760" y="3874875"/>
            <a:ext cx="3584447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🏛  Data Residency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65760" y="4222347"/>
            <a:ext cx="3547871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0">
                <a:solidFill>
                  <a:srgbClr val="D099FF"/>
                </a:solidFill>
                <a:latin typeface="Calibri"/>
              </a:rPr>
              <a:t>• Claude runs via Bedrock in your AWS region</a:t>
            </a:r>
          </a:p>
          <a:p>
            <a:pPr algn="l">
              <a:lnSpc>
                <a:spcPts val="1500"/>
              </a:lnSpc>
            </a:pPr>
            <a:r>
              <a:rPr sz="1000" b="0">
                <a:solidFill>
                  <a:srgbClr val="D099FF"/>
                </a:solidFill>
                <a:latin typeface="Calibri"/>
              </a:rPr>
              <a:t>• Code &amp; diffs never leave VPC</a:t>
            </a:r>
          </a:p>
          <a:p>
            <a:pPr algn="l">
              <a:lnSpc>
                <a:spcPts val="1500"/>
              </a:lnSpc>
            </a:pPr>
            <a:r>
              <a:rPr sz="1000" b="0">
                <a:solidFill>
                  <a:srgbClr val="D099FF"/>
                </a:solidFill>
                <a:latin typeface="Calibri"/>
              </a:rPr>
              <a:t>• Bedrock: zero-retention policy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096511" y="3783435"/>
            <a:ext cx="3749039" cy="1316736"/>
          </a:xfrm>
          <a:prstGeom prst="rect">
            <a:avLst/>
          </a:prstGeom>
          <a:solidFill>
            <a:srgbClr val="280050"/>
          </a:solidFill>
          <a:ln w="11430">
            <a:solidFill>
              <a:srgbClr val="560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4206239" y="3874875"/>
            <a:ext cx="3584447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🔑  Encryption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206239" y="4222347"/>
            <a:ext cx="3547871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0">
                <a:solidFill>
                  <a:srgbClr val="D099FF"/>
                </a:solidFill>
                <a:latin typeface="Calibri"/>
              </a:rPr>
              <a:t>• KMS at rest: alias/zerobug</a:t>
            </a:r>
          </a:p>
          <a:p>
            <a:pPr algn="l">
              <a:lnSpc>
                <a:spcPts val="1500"/>
              </a:lnSpc>
            </a:pPr>
            <a:r>
              <a:rPr sz="1000" b="0">
                <a:solidFill>
                  <a:srgbClr val="D099FF"/>
                </a:solidFill>
                <a:latin typeface="Calibri"/>
              </a:rPr>
              <a:t>• enable_key_rotation=True</a:t>
            </a:r>
          </a:p>
          <a:p>
            <a:pPr algn="l">
              <a:lnSpc>
                <a:spcPts val="1500"/>
              </a:lnSpc>
            </a:pPr>
            <a:r>
              <a:rPr sz="1000" b="0">
                <a:solidFill>
                  <a:srgbClr val="D099FF"/>
                </a:solidFill>
                <a:latin typeface="Calibri"/>
              </a:rPr>
              <a:t>• TLS in transit · DynamoDB also encrypted with same CMK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936990" y="3783435"/>
            <a:ext cx="3749039" cy="1316736"/>
          </a:xfrm>
          <a:prstGeom prst="rect">
            <a:avLst/>
          </a:prstGeom>
          <a:solidFill>
            <a:srgbClr val="2A0050"/>
          </a:solidFill>
          <a:ln w="1905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8046718" y="3874875"/>
            <a:ext cx="3584447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🧱  Sandboxed Execution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046718" y="4222347"/>
            <a:ext cx="3547871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0">
                <a:solidFill>
                  <a:srgbClr val="D099FF"/>
                </a:solidFill>
                <a:latin typeface="Calibri"/>
              </a:rPr>
              <a:t>• _validate() blocks subprocess · socket · IMDS</a:t>
            </a:r>
          </a:p>
          <a:p>
            <a:pPr algn="l">
              <a:lnSpc>
                <a:spcPts val="1500"/>
              </a:lnSpc>
            </a:pPr>
            <a:r>
              <a:rPr sz="1000" b="0">
                <a:solidFill>
                  <a:srgbClr val="D099FF"/>
                </a:solidFill>
                <a:latin typeface="Calibri"/>
              </a:rPr>
              <a:t>• SANDBOX_LAMBDA_ARN isolated</a:t>
            </a:r>
          </a:p>
          <a:p>
            <a:pPr algn="l">
              <a:lnSpc>
                <a:spcPts val="1500"/>
              </a:lnSpc>
            </a:pPr>
            <a:r>
              <a:rPr sz="1000" b="0">
                <a:solidFill>
                  <a:srgbClr val="D099FF"/>
                </a:solidFill>
                <a:latin typeface="Calibri"/>
              </a:rPr>
              <a:t>• env vars restored after every exec()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56032" y="5191611"/>
            <a:ext cx="3749039" cy="1316736"/>
          </a:xfrm>
          <a:prstGeom prst="rect">
            <a:avLst/>
          </a:prstGeom>
          <a:solidFill>
            <a:srgbClr val="2A0050"/>
          </a:solidFill>
          <a:ln w="1905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365760" y="5283051"/>
            <a:ext cx="3584447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👤  Human-in-the-Loop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65760" y="5630523"/>
            <a:ext cx="3547871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0">
                <a:solidFill>
                  <a:srgbClr val="D099FF"/>
                </a:solidFill>
                <a:latin typeface="Calibri"/>
              </a:rPr>
              <a:t>• Zero merges without explicit human approval</a:t>
            </a:r>
          </a:p>
          <a:p>
            <a:pPr algn="l">
              <a:lnSpc>
                <a:spcPts val="1500"/>
              </a:lnSpc>
            </a:pPr>
            <a:r>
              <a:rPr sz="1000" b="0">
                <a:solidFill>
                  <a:srgbClr val="D099FF"/>
                </a:solidFill>
                <a:latin typeface="Calibri"/>
              </a:rPr>
              <a:t>• Approvals stored immutably in DynamoDB</a:t>
            </a:r>
          </a:p>
          <a:p>
            <a:pPr algn="l">
              <a:lnSpc>
                <a:spcPts val="1500"/>
              </a:lnSpc>
            </a:pPr>
            <a:r>
              <a:rPr sz="1000" b="0">
                <a:solidFill>
                  <a:srgbClr val="D099FF"/>
                </a:solidFill>
                <a:latin typeface="Calibri"/>
              </a:rPr>
              <a:t>• Approve · Request changes · Reject — always available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096511" y="5191611"/>
            <a:ext cx="3749039" cy="1316736"/>
          </a:xfrm>
          <a:prstGeom prst="rect">
            <a:avLst/>
          </a:prstGeom>
          <a:solidFill>
            <a:srgbClr val="280050"/>
          </a:solidFill>
          <a:ln w="11430">
            <a:solidFill>
              <a:srgbClr val="560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4206239" y="5283051"/>
            <a:ext cx="3584447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🔍  Audit Trail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206239" y="5630523"/>
            <a:ext cx="3547871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0">
                <a:solidFill>
                  <a:srgbClr val="D099FF"/>
                </a:solidFill>
                <a:latin typeface="Calibri"/>
              </a:rPr>
              <a:t>• Every agent action logged: report → fix → PR</a:t>
            </a:r>
          </a:p>
          <a:p>
            <a:pPr algn="l">
              <a:lnSpc>
                <a:spcPts val="1500"/>
              </a:lnSpc>
            </a:pPr>
            <a:r>
              <a:rPr sz="1000" b="0">
                <a:solidFill>
                  <a:srgbClr val="D099FF"/>
                </a:solidFill>
                <a:latin typeface="Calibri"/>
              </a:rPr>
              <a:t>• Full reasoning chain in every PR &amp; Jira ticket</a:t>
            </a:r>
          </a:p>
          <a:p>
            <a:pPr algn="l">
              <a:lnSpc>
                <a:spcPts val="1500"/>
              </a:lnSpc>
            </a:pPr>
            <a:r>
              <a:rPr sz="1000" b="0">
                <a:solidFill>
                  <a:srgbClr val="D099FF"/>
                </a:solidFill>
                <a:latin typeface="Calibri"/>
              </a:rPr>
              <a:t>• Immutable: who approved, when, what deployed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936990" y="5191611"/>
            <a:ext cx="3749039" cy="1316736"/>
          </a:xfrm>
          <a:prstGeom prst="rect">
            <a:avLst/>
          </a:prstGeom>
          <a:solidFill>
            <a:srgbClr val="280050"/>
          </a:solidFill>
          <a:ln w="11430">
            <a:solidFill>
              <a:srgbClr val="560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8046718" y="5283051"/>
            <a:ext cx="3584447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🔐  Access Control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046718" y="5630523"/>
            <a:ext cx="3547871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0">
                <a:solidFill>
                  <a:srgbClr val="D099FF"/>
                </a:solidFill>
                <a:latin typeface="Calibri"/>
              </a:rPr>
              <a:t>• Scoped GitHub PAT: repo-only</a:t>
            </a:r>
          </a:p>
          <a:p>
            <a:pPr algn="l">
              <a:lnSpc>
                <a:spcPts val="1500"/>
              </a:lnSpc>
            </a:pPr>
            <a:r>
              <a:rPr sz="1000" b="0">
                <a:solidFill>
                  <a:srgbClr val="D099FF"/>
                </a:solidFill>
                <a:latin typeface="Calibri"/>
              </a:rPr>
              <a:t>• API_SECRET_KEY gates all endpoints</a:t>
            </a:r>
          </a:p>
          <a:p>
            <a:pPr algn="l">
              <a:lnSpc>
                <a:spcPts val="1500"/>
              </a:lnSpc>
            </a:pPr>
            <a:r>
              <a:rPr sz="1000" b="0">
                <a:solidFill>
                  <a:srgbClr val="D099FF"/>
                </a:solidFill>
                <a:latin typeface="Calibri"/>
              </a:rPr>
              <a:t>• CORS_ORIGINS whitelist · HMAC webhook validation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A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8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56032" y="54864"/>
            <a:ext cx="25603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A100FF"/>
                </a:solidFill>
                <a:latin typeface="Calibri"/>
              </a:rPr>
              <a:t>ZeroBug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93392" y="0"/>
            <a:ext cx="365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070FF"/>
                </a:solidFill>
                <a:latin typeface="Calibri"/>
              </a:rPr>
              <a:t>&gt;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31720" y="182880"/>
            <a:ext cx="86868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D099FF"/>
                </a:solidFill>
                <a:latin typeface="Calibri"/>
              </a:rPr>
              <a:t>FAQ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932688"/>
            <a:ext cx="11704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100FF"/>
                </a:solidFill>
                <a:latin typeface="Calibri"/>
              </a:rPr>
              <a:t>COMMON SECURITY QUESTIONS — AND OUR ANSWERS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256032" y="1298448"/>
            <a:ext cx="11676888" cy="420624"/>
          </a:xfrm>
          <a:prstGeom prst="rect">
            <a:avLst/>
          </a:prstGeom>
          <a:solidFill>
            <a:srgbClr val="280050"/>
          </a:solidFill>
          <a:ln w="1905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56032" y="1298448"/>
            <a:ext cx="402336" cy="420624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56032" y="1298448"/>
            <a:ext cx="40233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Q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1353312"/>
            <a:ext cx="10972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What if the AWS account is compromised?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6032" y="1719072"/>
            <a:ext cx="11676888" cy="1097280"/>
          </a:xfrm>
          <a:prstGeom prst="rect">
            <a:avLst/>
          </a:prstGeom>
          <a:solidFill>
            <a:srgbClr val="22003E"/>
          </a:solidFill>
          <a:ln w="10160">
            <a:solidFill>
              <a:srgbClr val="7D2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56032" y="1719072"/>
            <a:ext cx="402336" cy="1097280"/>
          </a:xfrm>
          <a:prstGeom prst="rect">
            <a:avLst/>
          </a:prstGeom>
          <a:solidFill>
            <a:srgbClr val="7D2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56032" y="1719072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773936"/>
            <a:ext cx="10972800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EEDDFF"/>
                </a:solidFill>
                <a:latin typeface="Calibri"/>
              </a:rPr>
              <a:t>KMS key access is IAM-scoped — </a:t>
            </a:r>
            <a:endParaRPr lang="en-US" sz="1100" b="0" i="0" dirty="0">
              <a:solidFill>
                <a:srgbClr val="EEDDFF"/>
              </a:solidFill>
              <a:latin typeface="Calibri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sz="1100" b="0" i="0" dirty="0">
                <a:solidFill>
                  <a:srgbClr val="EEDDFF"/>
                </a:solidFill>
                <a:latin typeface="Calibri"/>
              </a:rPr>
              <a:t>only </a:t>
            </a:r>
            <a:r>
              <a:rPr sz="1100" b="0" i="0" dirty="0" err="1">
                <a:solidFill>
                  <a:srgbClr val="EEDDFF"/>
                </a:solidFill>
                <a:latin typeface="Calibri"/>
              </a:rPr>
              <a:t>ApiLambda</a:t>
            </a:r>
            <a:r>
              <a:rPr sz="1100" b="0" i="0" dirty="0">
                <a:solidFill>
                  <a:srgbClr val="EEDDFF"/>
                </a:solidFill>
                <a:latin typeface="Calibri"/>
              </a:rPr>
              <a:t> and </a:t>
            </a:r>
            <a:r>
              <a:rPr sz="1100" b="0" i="0" dirty="0" err="1">
                <a:solidFill>
                  <a:srgbClr val="EEDDFF"/>
                </a:solidFill>
                <a:latin typeface="Calibri"/>
              </a:rPr>
              <a:t>RuntimeLambda</a:t>
            </a:r>
            <a:r>
              <a:rPr sz="1100" b="0" i="0" dirty="0">
                <a:solidFill>
                  <a:srgbClr val="EEDDFF"/>
                </a:solidFill>
                <a:latin typeface="Calibri"/>
              </a:rPr>
              <a:t> have </a:t>
            </a:r>
            <a:r>
              <a:rPr sz="1100" b="0" i="0" dirty="0" err="1">
                <a:solidFill>
                  <a:srgbClr val="EEDDFF"/>
                </a:solidFill>
                <a:latin typeface="Calibri"/>
              </a:rPr>
              <a:t>encrypt_decrypt</a:t>
            </a:r>
            <a:r>
              <a:rPr sz="1100" b="0" i="0" dirty="0">
                <a:solidFill>
                  <a:srgbClr val="EEDDFF"/>
                </a:solidFill>
                <a:latin typeface="Calibri"/>
              </a:rPr>
              <a:t> grants.    </a:t>
            </a:r>
            <a:endParaRPr lang="en-US" sz="1100" b="0" i="0" dirty="0">
              <a:solidFill>
                <a:srgbClr val="EEDDFF"/>
              </a:solidFill>
              <a:latin typeface="Calibri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sz="1100" b="0" i="0" dirty="0">
                <a:solidFill>
                  <a:srgbClr val="EEDDFF"/>
                </a:solidFill>
                <a:latin typeface="Calibri"/>
              </a:rPr>
              <a:t>Key rotation is one CDK toggle: </a:t>
            </a:r>
            <a:r>
              <a:rPr sz="1100" b="0" i="0" dirty="0" err="1">
                <a:solidFill>
                  <a:srgbClr val="EEDDFF"/>
                </a:solidFill>
                <a:latin typeface="Calibri"/>
              </a:rPr>
              <a:t>enable_key_rotation</a:t>
            </a:r>
            <a:r>
              <a:rPr sz="1100" b="0" i="0" dirty="0">
                <a:solidFill>
                  <a:srgbClr val="EEDDFF"/>
                </a:solidFill>
                <a:latin typeface="Calibri"/>
              </a:rPr>
              <a:t>=True already set.  </a:t>
            </a:r>
            <a:endParaRPr lang="en-US" sz="1100" b="0" i="0" dirty="0">
              <a:solidFill>
                <a:srgbClr val="EEDDFF"/>
              </a:solidFill>
              <a:latin typeface="Calibri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sz="1100" b="0" i="0" dirty="0">
                <a:solidFill>
                  <a:srgbClr val="EEDDFF"/>
                </a:solidFill>
                <a:latin typeface="Calibri"/>
              </a:rPr>
              <a:t>We can move to short-lived OAuth tokens / GitHub Apps when the vendor supports them.  </a:t>
            </a:r>
            <a:endParaRPr lang="en-US" sz="1100" dirty="0">
              <a:solidFill>
                <a:srgbClr val="EEDDFF"/>
              </a:solidFill>
              <a:latin typeface="Calibri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sz="1100" b="0" i="0" dirty="0">
                <a:solidFill>
                  <a:srgbClr val="EEDDFF"/>
                </a:solidFill>
                <a:latin typeface="Calibri"/>
              </a:rPr>
              <a:t>Compromise of credentials doesn't give access to past sessions — ciphertext only, key needed.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6032" y="3017520"/>
            <a:ext cx="11676888" cy="420624"/>
          </a:xfrm>
          <a:prstGeom prst="rect">
            <a:avLst/>
          </a:prstGeom>
          <a:solidFill>
            <a:srgbClr val="280050"/>
          </a:solidFill>
          <a:ln w="1905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56032" y="3017520"/>
            <a:ext cx="402336" cy="420624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56032" y="3017520"/>
            <a:ext cx="40233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Q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3072384"/>
            <a:ext cx="10972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Does Anthropic see our code or secrets?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56032" y="3438144"/>
            <a:ext cx="11676888" cy="1097280"/>
          </a:xfrm>
          <a:prstGeom prst="rect">
            <a:avLst/>
          </a:prstGeom>
          <a:solidFill>
            <a:srgbClr val="22003E"/>
          </a:solidFill>
          <a:ln w="10160">
            <a:solidFill>
              <a:srgbClr val="7D2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56032" y="3438144"/>
            <a:ext cx="402336" cy="1097280"/>
          </a:xfrm>
          <a:prstGeom prst="rect">
            <a:avLst/>
          </a:prstGeom>
          <a:solidFill>
            <a:srgbClr val="7D2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56032" y="3438144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3493008"/>
            <a:ext cx="10972800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EEDDFF"/>
                </a:solidFill>
                <a:latin typeface="Calibri"/>
              </a:rPr>
              <a:t>No. We call Claude through AWS Bedrock — </a:t>
            </a:r>
            <a:endParaRPr lang="en-US" sz="1100" b="0" i="0" dirty="0">
              <a:solidFill>
                <a:srgbClr val="EEDDFF"/>
              </a:solidFill>
              <a:latin typeface="Calibri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sz="1100" b="0" i="0" dirty="0">
                <a:solidFill>
                  <a:srgbClr val="EEDDFF"/>
                </a:solidFill>
                <a:latin typeface="Calibri"/>
              </a:rPr>
              <a:t>an AWS-managed inference endpoint in our account.  </a:t>
            </a:r>
            <a:endParaRPr lang="en-US" sz="1100" b="0" i="0" dirty="0">
              <a:solidFill>
                <a:srgbClr val="EEDDFF"/>
              </a:solidFill>
              <a:latin typeface="Calibri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sz="1100" b="0" i="0" dirty="0">
                <a:solidFill>
                  <a:srgbClr val="EEDDFF"/>
                </a:solidFill>
                <a:latin typeface="Calibri"/>
              </a:rPr>
              <a:t>The model context we send contains the env-var NAME, never the value (e.g. 'GITHUB_PAT' not the token).  </a:t>
            </a:r>
            <a:endParaRPr lang="en-US" sz="1100" b="0" i="0" dirty="0">
              <a:solidFill>
                <a:srgbClr val="EEDDFF"/>
              </a:solidFill>
              <a:latin typeface="Calibri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sz="1100" b="0" i="0" dirty="0">
                <a:solidFill>
                  <a:srgbClr val="EEDDFF"/>
                </a:solidFill>
                <a:latin typeface="Calibri"/>
              </a:rPr>
              <a:t>Bedrock has a zero-retention policy — no data used for model training. </a:t>
            </a:r>
            <a:endParaRPr lang="en-US" sz="1100" b="0" i="0" dirty="0">
              <a:solidFill>
                <a:srgbClr val="EEDDFF"/>
              </a:solidFill>
              <a:latin typeface="Calibri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sz="1100" b="0" i="0" dirty="0">
                <a:solidFill>
                  <a:srgbClr val="EEDDFF"/>
                </a:solidFill>
                <a:latin typeface="Calibri"/>
              </a:rPr>
              <a:t>Inference stays inside our AWS account. Nothing leaves to </a:t>
            </a:r>
            <a:r>
              <a:rPr sz="1100" b="0" i="0" dirty="0" err="1">
                <a:solidFill>
                  <a:srgbClr val="EEDDFF"/>
                </a:solidFill>
                <a:latin typeface="Calibri"/>
              </a:rPr>
              <a:t>anthropic.com</a:t>
            </a:r>
            <a:r>
              <a:rPr sz="1100" b="0" i="0" dirty="0">
                <a:solidFill>
                  <a:srgbClr val="EEDDFF"/>
                </a:solidFill>
                <a:latin typeface="Calibri"/>
              </a:rPr>
              <a:t> or any external API.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56032" y="4736592"/>
            <a:ext cx="11676888" cy="420624"/>
          </a:xfrm>
          <a:prstGeom prst="rect">
            <a:avLst/>
          </a:prstGeom>
          <a:solidFill>
            <a:srgbClr val="280050"/>
          </a:solidFill>
          <a:ln w="1905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256032" y="4736592"/>
            <a:ext cx="402336" cy="420624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56032" y="4736592"/>
            <a:ext cx="40233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Q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" y="4791456"/>
            <a:ext cx="10972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Where exactly does the decrypt happen?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56032" y="5157216"/>
            <a:ext cx="11676888" cy="1097280"/>
          </a:xfrm>
          <a:prstGeom prst="rect">
            <a:avLst/>
          </a:prstGeom>
          <a:solidFill>
            <a:srgbClr val="22003E"/>
          </a:solidFill>
          <a:ln w="10160">
            <a:solidFill>
              <a:srgbClr val="7D2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256032" y="5157216"/>
            <a:ext cx="402336" cy="1097280"/>
          </a:xfrm>
          <a:prstGeom prst="rect">
            <a:avLst/>
          </a:prstGeom>
          <a:solidFill>
            <a:srgbClr val="7D2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56032" y="5157216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" y="5212080"/>
            <a:ext cx="109728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EEDDFF"/>
                </a:solidFill>
                <a:latin typeface="Calibri"/>
              </a:rPr>
              <a:t>In our own Lambda (runtime/handler.</a:t>
            </a:r>
            <a:r>
              <a:rPr sz="1100" b="0" i="0" dirty="0" err="1">
                <a:solidFill>
                  <a:srgbClr val="EEDDFF"/>
                </a:solidFill>
                <a:latin typeface="Calibri"/>
              </a:rPr>
              <a:t>py</a:t>
            </a:r>
            <a:r>
              <a:rPr sz="1100" b="0" i="0" dirty="0">
                <a:solidFill>
                  <a:srgbClr val="EEDDFF"/>
                </a:solidFill>
                <a:latin typeface="Calibri"/>
              </a:rPr>
              <a:t>:_</a:t>
            </a:r>
            <a:r>
              <a:rPr sz="1100" b="0" i="0" dirty="0" err="1">
                <a:solidFill>
                  <a:srgbClr val="EEDDFF"/>
                </a:solidFill>
                <a:latin typeface="Calibri"/>
              </a:rPr>
              <a:t>get_credentials</a:t>
            </a:r>
            <a:r>
              <a:rPr sz="1100" b="0" i="0" dirty="0">
                <a:solidFill>
                  <a:srgbClr val="EEDDFF"/>
                </a:solidFill>
                <a:latin typeface="Calibri"/>
              </a:rPr>
              <a:t>), right before we invoke the sandbox.   </a:t>
            </a:r>
            <a:endParaRPr lang="en-US" sz="1100" b="0" i="0" dirty="0">
              <a:solidFill>
                <a:srgbClr val="EEDDFF"/>
              </a:solidFill>
              <a:latin typeface="Calibri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sz="1100" b="0" i="0" dirty="0" err="1">
                <a:solidFill>
                  <a:srgbClr val="EEDDFF"/>
                </a:solidFill>
                <a:latin typeface="Calibri"/>
              </a:rPr>
              <a:t>kms.decrypt</a:t>
            </a:r>
            <a:r>
              <a:rPr sz="1100" b="0" i="0" dirty="0">
                <a:solidFill>
                  <a:srgbClr val="EEDDFF"/>
                </a:solidFill>
                <a:latin typeface="Calibri"/>
              </a:rPr>
              <a:t>() is called in-memory — decrypted plaintext is never written to disk.  </a:t>
            </a:r>
            <a:endParaRPr lang="en-US" sz="1100" b="0" i="0" dirty="0">
              <a:solidFill>
                <a:srgbClr val="EEDDFF"/>
              </a:solidFill>
              <a:latin typeface="Calibri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sz="1100" b="0" i="0" dirty="0">
                <a:solidFill>
                  <a:srgbClr val="EEDDFF"/>
                </a:solidFill>
                <a:latin typeface="Calibri"/>
              </a:rPr>
              <a:t>It is passed as process env vars into the sandbox Lambda for one execution only.  </a:t>
            </a:r>
            <a:endParaRPr lang="en-US" sz="1100" b="0" i="0" dirty="0">
              <a:solidFill>
                <a:srgbClr val="EEDDFF"/>
              </a:solidFill>
              <a:latin typeface="Calibri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sz="1100" b="0" i="0" dirty="0">
                <a:solidFill>
                  <a:srgbClr val="EEDDFF"/>
                </a:solidFill>
                <a:latin typeface="Calibri"/>
              </a:rPr>
              <a:t>The finally: block in </a:t>
            </a:r>
            <a:r>
              <a:rPr sz="1100" b="0" i="0" dirty="0" err="1">
                <a:solidFill>
                  <a:srgbClr val="EEDDFF"/>
                </a:solidFill>
                <a:latin typeface="Calibri"/>
              </a:rPr>
              <a:t>executor.py</a:t>
            </a:r>
            <a:r>
              <a:rPr sz="1100" b="0" i="0" dirty="0">
                <a:solidFill>
                  <a:srgbClr val="EEDDFF"/>
                </a:solidFill>
                <a:latin typeface="Calibri"/>
              </a:rPr>
              <a:t> restores original env — plaintext cleared immediately after.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28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28600" y="6601968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55BB"/>
                </a:solidFill>
                <a:latin typeface="Calibri"/>
              </a:rPr>
              <a:t>Agentic Workflows with Guardrails  |  DevSecOps  |  Cybersecurity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81360" y="6601968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55BB"/>
                </a:solidFill>
                <a:latin typeface="Calibri"/>
              </a:rPr>
              <a:t>Slide 5 /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1458</Words>
  <Application>Microsoft Macintosh PowerPoint</Application>
  <PresentationFormat>Custom</PresentationFormat>
  <Paragraphs>247</Paragraphs>
  <Slides>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Goyal, Chitresh</cp:lastModifiedBy>
  <cp:revision>23</cp:revision>
  <dcterms:created xsi:type="dcterms:W3CDTF">2013-01-27T09:14:16Z</dcterms:created>
  <dcterms:modified xsi:type="dcterms:W3CDTF">2026-05-28T20:52:51Z</dcterms:modified>
  <cp:category/>
</cp:coreProperties>
</file>